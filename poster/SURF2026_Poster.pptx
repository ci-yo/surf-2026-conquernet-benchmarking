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1386800" cy="3027521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6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54" autoAdjust="0"/>
    <p:restoredTop sz="85358" autoAdjust="0"/>
  </p:normalViewPr>
  <p:slideViewPr>
    <p:cSldViewPr snapToGrid="0" snapToObjects="1">
      <p:cViewPr varScale="1">
        <p:scale>
          <a:sx n="32" d="100"/>
          <a:sy n="32" d="100"/>
        </p:scale>
        <p:origin x="494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0" y="2130536"/>
            <a:ext cx="7772288" cy="1470102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80" y="3886403"/>
            <a:ext cx="6400708" cy="175269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  <a:t>2026/8/27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  <a:t>2026/8/27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03" y="4407130"/>
            <a:ext cx="7772288" cy="1362146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03" y="2906864"/>
            <a:ext cx="7772288" cy="150026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  <a:t>2026/8/27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3" y="1600283"/>
            <a:ext cx="4038542" cy="4526199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133" y="1600283"/>
            <a:ext cx="4038542" cy="4526199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  <a:t>2026/8/27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3" y="1535193"/>
            <a:ext cx="4040130" cy="6397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193" y="2174988"/>
            <a:ext cx="4040130" cy="3951494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4958" y="1535193"/>
            <a:ext cx="4041717" cy="6397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4958" y="2174988"/>
            <a:ext cx="4041717" cy="3951494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  <a:t>2026/8/27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  <a:t>2026/8/27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  <a:t>2026/8/27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3" y="273064"/>
            <a:ext cx="3008270" cy="1162111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999" y="273064"/>
            <a:ext cx="5111676" cy="5853418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193" y="1435175"/>
            <a:ext cx="3008270" cy="46913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  <a:t>2026/8/27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62" y="4800850"/>
            <a:ext cx="5486321" cy="56676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62" y="612807"/>
            <a:ext cx="5486321" cy="4115014"/>
          </a:xfrm>
        </p:spPr>
        <p:txBody>
          <a:bodyPr/>
          <a:lstStyle>
            <a:lvl1pPr marL="0" indent="0">
              <a:buNone/>
              <a:defRPr sz="1145"/>
            </a:lvl1pPr>
            <a:lvl2pPr marL="457200" indent="0">
              <a:buNone/>
              <a:defRPr sz="1145"/>
            </a:lvl2pPr>
            <a:lvl3pPr marL="914400" indent="0">
              <a:buNone/>
              <a:defRPr sz="1145"/>
            </a:lvl3pPr>
            <a:lvl4pPr marL="1371600" indent="0">
              <a:buNone/>
              <a:defRPr sz="1145"/>
            </a:lvl4pPr>
            <a:lvl5pPr marL="1828800" indent="0">
              <a:buNone/>
              <a:defRPr sz="1145"/>
            </a:lvl5pPr>
            <a:lvl6pPr marL="2286000" indent="0">
              <a:buNone/>
              <a:defRPr sz="1145"/>
            </a:lvl6pPr>
            <a:lvl7pPr marL="2743200" indent="0">
              <a:buNone/>
              <a:defRPr sz="1145"/>
            </a:lvl7pPr>
            <a:lvl8pPr marL="3200400" indent="0">
              <a:buNone/>
              <a:defRPr sz="1145"/>
            </a:lvl8pPr>
            <a:lvl9pPr marL="3657600" indent="0">
              <a:buNone/>
              <a:defRPr sz="1145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2" hasCustomPrompt="1"/>
          </p:nvPr>
        </p:nvSpPr>
        <p:spPr>
          <a:xfrm>
            <a:off x="1792262" y="5367618"/>
            <a:ext cx="5486321" cy="804904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edit text — Background and why this problem matters.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  <a:t>2026/8/27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  <a:t>‹#›</a:t>
            </a:fld>
            <a:endParaRPr/>
          </a:p>
        </p:txBody>
      </p:sp>
      <p:sp>
        <p:nvSpPr>
          <p:cNvPr id="900" name="Picture Placeholder 20"/>
          <p:cNvSpPr>
            <a:spLocks noGrp="1"/>
          </p:cNvSpPr>
          <p:nvPr>
            <p:ph type="pic" idx="20"/>
          </p:nvPr>
        </p:nvSpPr>
        <p:spPr>
          <a:xfrm>
            <a:off x="1792262" y="612807"/>
            <a:ext cx="5486321" cy="4115014"/>
          </a:xfrm>
        </p:spPr>
        <p:txBody>
          <a:bodyPr/>
          <a:lstStyle>
            <a:lvl1pPr marL="0" indent="0">
              <a:buNone/>
              <a:defRPr sz="1145"/>
            </a:lvl1pPr>
            <a:lvl2pPr marL="457200" indent="0">
              <a:buNone/>
              <a:defRPr sz="1145"/>
            </a:lvl2pPr>
            <a:lvl3pPr marL="914400" indent="0">
              <a:buNone/>
              <a:defRPr sz="1145"/>
            </a:lvl3pPr>
            <a:lvl4pPr marL="1371600" indent="0">
              <a:buNone/>
              <a:defRPr sz="1145"/>
            </a:lvl4pPr>
            <a:lvl5pPr marL="1828800" indent="0">
              <a:buNone/>
              <a:defRPr sz="1145"/>
            </a:lvl5pPr>
            <a:lvl6pPr marL="2286000" indent="0">
              <a:buNone/>
              <a:defRPr sz="1145"/>
            </a:lvl6pPr>
            <a:lvl7pPr marL="2743200" indent="0">
              <a:buNone/>
              <a:defRPr sz="1145"/>
            </a:lvl7pPr>
            <a:lvl8pPr marL="3200400" indent="0">
              <a:buNone/>
              <a:defRPr sz="1145"/>
            </a:lvl8pPr>
            <a:lvl9pPr marL="3657600" indent="0">
              <a:buNone/>
              <a:defRPr sz="1145"/>
            </a:lvl9pPr>
          </a:lstStyle>
          <a:p>
            <a:endParaRPr/>
          </a:p>
        </p:txBody>
      </p:sp>
      <p:sp>
        <p:nvSpPr>
          <p:cNvPr id="901" name="Picture Placeholder 21"/>
          <p:cNvSpPr>
            <a:spLocks noGrp="1"/>
          </p:cNvSpPr>
          <p:nvPr>
            <p:ph type="pic" idx="21"/>
          </p:nvPr>
        </p:nvSpPr>
        <p:spPr>
          <a:xfrm>
            <a:off x="1792262" y="612807"/>
            <a:ext cx="5486321" cy="4115014"/>
          </a:xfrm>
        </p:spPr>
        <p:txBody>
          <a:bodyPr/>
          <a:lstStyle>
            <a:lvl1pPr marL="0" indent="0">
              <a:buNone/>
              <a:defRPr sz="1650"/>
            </a:lvl1pPr>
            <a:lvl2pPr marL="457200" indent="0">
              <a:buNone/>
              <a:defRPr sz="1650"/>
            </a:lvl2pPr>
            <a:lvl3pPr marL="914400" indent="0">
              <a:buNone/>
              <a:defRPr sz="1650"/>
            </a:lvl3pPr>
            <a:lvl4pPr marL="1371600" indent="0">
              <a:buNone/>
              <a:defRPr sz="1650"/>
            </a:lvl4pPr>
            <a:lvl5pPr marL="1828800" indent="0">
              <a:buNone/>
              <a:defRPr sz="1650"/>
            </a:lvl5pPr>
            <a:lvl6pPr marL="2286000" indent="0">
              <a:buNone/>
              <a:defRPr sz="1650"/>
            </a:lvl6pPr>
            <a:lvl7pPr marL="2743200" indent="0">
              <a:buNone/>
              <a:defRPr sz="1650"/>
            </a:lvl7pPr>
            <a:lvl8pPr marL="3200400" indent="0">
              <a:buNone/>
              <a:defRPr sz="1650"/>
            </a:lvl8pPr>
            <a:lvl9pPr marL="3657600" indent="0">
              <a:buNone/>
              <a:defRPr sz="1650"/>
            </a:lvl9pPr>
          </a:lstStyle>
          <a:p>
            <a:endParaRPr/>
          </a:p>
        </p:txBody>
      </p:sp>
      <p:sp>
        <p:nvSpPr>
          <p:cNvPr id="902" name="Picture Placeholder 22"/>
          <p:cNvSpPr>
            <a:spLocks noGrp="1"/>
          </p:cNvSpPr>
          <p:nvPr>
            <p:ph type="pic" idx="22"/>
          </p:nvPr>
        </p:nvSpPr>
        <p:spPr>
          <a:xfrm>
            <a:off x="1792262" y="612807"/>
            <a:ext cx="5486321" cy="4115014"/>
          </a:xfrm>
        </p:spPr>
        <p:txBody>
          <a:bodyPr/>
          <a:lstStyle>
            <a:lvl1pPr marL="0" indent="0">
              <a:buNone/>
              <a:defRPr sz="1650"/>
            </a:lvl1pPr>
            <a:lvl2pPr marL="457200" indent="0">
              <a:buNone/>
              <a:defRPr sz="1650"/>
            </a:lvl2pPr>
            <a:lvl3pPr marL="914400" indent="0">
              <a:buNone/>
              <a:defRPr sz="1650"/>
            </a:lvl3pPr>
            <a:lvl4pPr marL="1371600" indent="0">
              <a:buNone/>
              <a:defRPr sz="1650"/>
            </a:lvl4pPr>
            <a:lvl5pPr marL="1828800" indent="0">
              <a:buNone/>
              <a:defRPr sz="1650"/>
            </a:lvl5pPr>
            <a:lvl6pPr marL="2286000" indent="0">
              <a:buNone/>
              <a:defRPr sz="1650"/>
            </a:lvl6pPr>
            <a:lvl7pPr marL="2743200" indent="0">
              <a:buNone/>
              <a:defRPr sz="1650"/>
            </a:lvl7pPr>
            <a:lvl8pPr marL="3200400" indent="0">
              <a:buNone/>
              <a:defRPr sz="1650"/>
            </a:lvl8pPr>
            <a:lvl9pPr marL="3657600" indent="0">
              <a:buNone/>
              <a:defRPr sz="1650"/>
            </a:lvl9pPr>
          </a:lstStyle>
          <a:p>
            <a:endParaRPr/>
          </a:p>
        </p:txBody>
      </p:sp>
      <p:sp>
        <p:nvSpPr>
          <p:cNvPr id="903" name="Picture Placeholder 23"/>
          <p:cNvSpPr>
            <a:spLocks noGrp="1"/>
          </p:cNvSpPr>
          <p:nvPr>
            <p:ph type="pic" idx="23"/>
          </p:nvPr>
        </p:nvSpPr>
        <p:spPr>
          <a:xfrm>
            <a:off x="1792262" y="612807"/>
            <a:ext cx="5486321" cy="4115014"/>
          </a:xfrm>
        </p:spPr>
        <p:txBody>
          <a:bodyPr/>
          <a:lstStyle>
            <a:lvl1pPr marL="0" indent="0">
              <a:buNone/>
              <a:defRPr sz="1650"/>
            </a:lvl1pPr>
            <a:lvl2pPr marL="457200" indent="0">
              <a:buNone/>
              <a:defRPr sz="1650"/>
            </a:lvl2pPr>
            <a:lvl3pPr marL="914400" indent="0">
              <a:buNone/>
              <a:defRPr sz="1650"/>
            </a:lvl3pPr>
            <a:lvl4pPr marL="1371600" indent="0">
              <a:buNone/>
              <a:defRPr sz="1650"/>
            </a:lvl4pPr>
            <a:lvl5pPr marL="1828800" indent="0">
              <a:buNone/>
              <a:defRPr sz="1650"/>
            </a:lvl5pPr>
            <a:lvl6pPr marL="2286000" indent="0">
              <a:buNone/>
              <a:defRPr sz="1650"/>
            </a:lvl6pPr>
            <a:lvl7pPr marL="2743200" indent="0">
              <a:buNone/>
              <a:defRPr sz="1650"/>
            </a:lvl7pPr>
            <a:lvl8pPr marL="3200400" indent="0">
              <a:buNone/>
              <a:defRPr sz="1650"/>
            </a:lvl8pPr>
            <a:lvl9pPr marL="3657600" indent="0">
              <a:buNone/>
              <a:defRPr sz="1650"/>
            </a:lvl9pPr>
          </a:lstStyle>
          <a:p>
            <a:endParaRPr/>
          </a:p>
        </p:txBody>
      </p:sp>
      <p:sp>
        <p:nvSpPr>
          <p:cNvPr id="904" name="Picture Placeholder 24"/>
          <p:cNvSpPr>
            <a:spLocks noGrp="1"/>
          </p:cNvSpPr>
          <p:nvPr>
            <p:ph type="pic" idx="24"/>
          </p:nvPr>
        </p:nvSpPr>
        <p:spPr>
          <a:xfrm>
            <a:off x="1792262" y="612807"/>
            <a:ext cx="5486321" cy="4115014"/>
          </a:xfrm>
        </p:spPr>
        <p:txBody>
          <a:bodyPr/>
          <a:lstStyle>
            <a:lvl1pPr marL="0" indent="0">
              <a:buNone/>
              <a:defRPr sz="1145"/>
            </a:lvl1pPr>
            <a:lvl2pPr marL="457200" indent="0">
              <a:buNone/>
              <a:defRPr sz="1145"/>
            </a:lvl2pPr>
            <a:lvl3pPr marL="914400" indent="0">
              <a:buNone/>
              <a:defRPr sz="1145"/>
            </a:lvl3pPr>
            <a:lvl4pPr marL="1371600" indent="0">
              <a:buNone/>
              <a:defRPr sz="1145"/>
            </a:lvl4pPr>
            <a:lvl5pPr marL="1828800" indent="0">
              <a:buNone/>
              <a:defRPr sz="1145"/>
            </a:lvl5pPr>
            <a:lvl6pPr marL="2286000" indent="0">
              <a:buNone/>
              <a:defRPr sz="1145"/>
            </a:lvl6pPr>
            <a:lvl7pPr marL="2743200" indent="0">
              <a:buNone/>
              <a:defRPr sz="1145"/>
            </a:lvl7pPr>
            <a:lvl8pPr marL="3200400" indent="0">
              <a:buNone/>
              <a:defRPr sz="1145"/>
            </a:lvl8pPr>
            <a:lvl9pPr marL="3657600" indent="0">
              <a:buNone/>
              <a:defRPr sz="1145"/>
            </a:lvl9pPr>
          </a:lstStyle>
          <a:p>
            <a:endParaRPr/>
          </a:p>
        </p:txBody>
      </p:sp>
      <p:sp>
        <p:nvSpPr>
          <p:cNvPr id="905" name="Picture Placeholder 25"/>
          <p:cNvSpPr>
            <a:spLocks noGrp="1"/>
          </p:cNvSpPr>
          <p:nvPr>
            <p:ph type="pic" idx="25"/>
          </p:nvPr>
        </p:nvSpPr>
        <p:spPr>
          <a:xfrm>
            <a:off x="1792262" y="612807"/>
            <a:ext cx="5486321" cy="4115014"/>
          </a:xfrm>
        </p:spPr>
        <p:txBody>
          <a:bodyPr/>
          <a:lstStyle>
            <a:lvl1pPr marL="0" indent="0">
              <a:buNone/>
              <a:defRPr sz="800"/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  <a:lvl6pPr marL="2286000" indent="0">
              <a:buNone/>
              <a:defRPr sz="800"/>
            </a:lvl6pPr>
            <a:lvl7pPr marL="2743200" indent="0">
              <a:buNone/>
              <a:defRPr sz="800"/>
            </a:lvl7pPr>
            <a:lvl8pPr marL="3200400" indent="0">
              <a:buNone/>
              <a:defRPr sz="800"/>
            </a:lvl8pPr>
            <a:lvl9pPr marL="3657600" indent="0">
              <a:buNone/>
              <a:defRPr sz="800"/>
            </a:lvl9pPr>
          </a:lstStyle>
          <a:p>
            <a:endParaRPr/>
          </a:p>
        </p:txBody>
      </p:sp>
      <p:sp>
        <p:nvSpPr>
          <p:cNvPr id="906" name="Picture Placeholder 26"/>
          <p:cNvSpPr>
            <a:spLocks noGrp="1"/>
          </p:cNvSpPr>
          <p:nvPr>
            <p:ph type="pic" idx="26"/>
          </p:nvPr>
        </p:nvSpPr>
        <p:spPr>
          <a:xfrm>
            <a:off x="1792262" y="612807"/>
            <a:ext cx="5486321" cy="4115014"/>
          </a:xfrm>
        </p:spPr>
        <p:txBody>
          <a:bodyPr/>
          <a:lstStyle>
            <a:lvl1pPr marL="0" indent="0">
              <a:buNone/>
              <a:defRPr sz="800"/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  <a:lvl6pPr marL="2286000" indent="0">
              <a:buNone/>
              <a:defRPr sz="800"/>
            </a:lvl6pPr>
            <a:lvl7pPr marL="2743200" indent="0">
              <a:buNone/>
              <a:defRPr sz="800"/>
            </a:lvl7pPr>
            <a:lvl8pPr marL="3200400" indent="0">
              <a:buNone/>
              <a:defRPr sz="800"/>
            </a:lvl8pPr>
            <a:lvl9pPr marL="3657600" indent="0">
              <a:buNone/>
              <a:defRPr sz="800"/>
            </a:lvl9pPr>
          </a:lstStyle>
          <a:p>
            <a:endParaRPr/>
          </a:p>
        </p:txBody>
      </p:sp>
      <p:sp>
        <p:nvSpPr>
          <p:cNvPr id="950" name="Text Placeholder 40"/>
          <p:cNvSpPr>
            <a:spLocks noGrp="1"/>
          </p:cNvSpPr>
          <p:nvPr>
            <p:ph type="body" idx="40" hasCustomPrompt="1"/>
          </p:nvPr>
        </p:nvSpPr>
        <p:spPr>
          <a:xfrm>
            <a:off x="1792262" y="5367618"/>
            <a:ext cx="5486321" cy="804904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edit text — Study design, materials and analysis approach.</a:t>
            </a:r>
          </a:p>
        </p:txBody>
      </p:sp>
      <p:sp>
        <p:nvSpPr>
          <p:cNvPr id="951" name="Text Placeholder 41"/>
          <p:cNvSpPr>
            <a:spLocks noGrp="1"/>
          </p:cNvSpPr>
          <p:nvPr>
            <p:ph type="body" idx="41" hasCustomPrompt="1"/>
          </p:nvPr>
        </p:nvSpPr>
        <p:spPr>
          <a:xfrm>
            <a:off x="1792262" y="5367618"/>
            <a:ext cx="5486321" cy="804904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edit text — Your key findings — this section gets the most space.</a:t>
            </a:r>
          </a:p>
        </p:txBody>
      </p:sp>
      <p:sp>
        <p:nvSpPr>
          <p:cNvPr id="952" name="Text Placeholder 42"/>
          <p:cNvSpPr>
            <a:spLocks noGrp="1"/>
          </p:cNvSpPr>
          <p:nvPr>
            <p:ph type="body" idx="42" hasCustomPrompt="1"/>
          </p:nvPr>
        </p:nvSpPr>
        <p:spPr>
          <a:xfrm>
            <a:off x="1792262" y="5367618"/>
            <a:ext cx="5486321" cy="804904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edit text — What the figures show — read them together here.</a:t>
            </a:r>
          </a:p>
        </p:txBody>
      </p:sp>
      <p:sp>
        <p:nvSpPr>
          <p:cNvPr id="953" name="Text Placeholder 43"/>
          <p:cNvSpPr>
            <a:spLocks noGrp="1"/>
          </p:cNvSpPr>
          <p:nvPr>
            <p:ph type="body" idx="43" hasCustomPrompt="1"/>
          </p:nvPr>
        </p:nvSpPr>
        <p:spPr>
          <a:xfrm>
            <a:off x="1792262" y="5367618"/>
            <a:ext cx="5486321" cy="804904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edit text — How your results relate to existing work.</a:t>
            </a:r>
          </a:p>
        </p:txBody>
      </p:sp>
      <p:sp>
        <p:nvSpPr>
          <p:cNvPr id="954" name="Text Placeholder 44"/>
          <p:cNvSpPr>
            <a:spLocks noGrp="1"/>
          </p:cNvSpPr>
          <p:nvPr>
            <p:ph type="body" idx="44" hasCustomPrompt="1"/>
          </p:nvPr>
        </p:nvSpPr>
        <p:spPr>
          <a:xfrm>
            <a:off x="1792262" y="5367618"/>
            <a:ext cx="5486321" cy="804904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edit text — Main takeaways in one or two sentences.</a:t>
            </a:r>
          </a:p>
        </p:txBody>
      </p:sp>
      <p:sp>
        <p:nvSpPr>
          <p:cNvPr id="955" name="Text Placeholder 45"/>
          <p:cNvSpPr>
            <a:spLocks noGrp="1"/>
          </p:cNvSpPr>
          <p:nvPr>
            <p:ph type="body" idx="45" hasCustomPrompt="1"/>
          </p:nvPr>
        </p:nvSpPr>
        <p:spPr>
          <a:xfrm>
            <a:off x="1792262" y="5367618"/>
            <a:ext cx="5486321" cy="804904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edit text — 1. Author A, et al. Journal. Year;Vol(Issue):Pages.</a:t>
            </a:r>
          </a:p>
        </p:txBody>
      </p:sp>
      <p:sp>
        <p:nvSpPr>
          <p:cNvPr id="956" name="Text Placeholder 46"/>
          <p:cNvSpPr>
            <a:spLocks noGrp="1"/>
          </p:cNvSpPr>
          <p:nvPr>
            <p:ph type="body" idx="46" hasCustomPrompt="1"/>
          </p:nvPr>
        </p:nvSpPr>
        <p:spPr>
          <a:xfrm>
            <a:off x="1792262" y="5367618"/>
            <a:ext cx="5486321" cy="804904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Click to edit text — Funding sources, collaborators and facilities.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  <a:t>2026/8/27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305" y="274652"/>
            <a:ext cx="2057370" cy="5851830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193" y="274652"/>
            <a:ext cx="6019713" cy="585183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/>
              <a:t>2026/8/27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3" y="274652"/>
            <a:ext cx="8229482" cy="11430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3" y="1600283"/>
            <a:ext cx="8229482" cy="452619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193" y="6356681"/>
            <a:ext cx="2133569" cy="3651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/>
              <a:t>2026/8/27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155" y="6356681"/>
            <a:ext cx="2895558" cy="3651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106" y="6356681"/>
            <a:ext cx="2133569" cy="3651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11" Type="http://schemas.openxmlformats.org/officeDocument/2006/relationships/hyperlink" Target="https://github.com/YueweiXu-XJTLU/ai-model-for-m6a-modification-sites" TargetMode="External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55" y="18249606"/>
            <a:ext cx="6219227" cy="8646145"/>
          </a:xfrm>
          <a:prstGeom prst="rect">
            <a:avLst/>
          </a:prstGeom>
        </p:spPr>
      </p:pic>
      <p:pic>
        <p:nvPicPr>
          <p:cNvPr id="145" name="图片 14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62"/>
          <a:stretch>
            <a:fillRect/>
          </a:stretch>
        </p:blipFill>
        <p:spPr>
          <a:xfrm>
            <a:off x="7221777" y="15367086"/>
            <a:ext cx="6479907" cy="4914907"/>
          </a:xfrm>
          <a:prstGeom prst="rect">
            <a:avLst/>
          </a:prstGeom>
        </p:spPr>
      </p:pic>
      <p:sp>
        <p:nvSpPr>
          <p:cNvPr id="19" name="header-band"/>
          <p:cNvSpPr>
            <a:spLocks noGrp="1"/>
          </p:cNvSpPr>
          <p:nvPr/>
        </p:nvSpPr>
        <p:spPr>
          <a:xfrm>
            <a:off x="127" y="386"/>
            <a:ext cx="21387508" cy="31006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2" name="poster-title"/>
          <p:cNvSpPr>
            <a:spLocks noGrp="1"/>
          </p:cNvSpPr>
          <p:nvPr/>
        </p:nvSpPr>
        <p:spPr>
          <a:xfrm>
            <a:off x="3104192" y="226564"/>
            <a:ext cx="15508616" cy="173733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5000"/>
              </a:lnSpc>
              <a:defRPr sz="36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4000" dirty="0"/>
              <a:t>Improving Reliable m6A Analysis through Long-context Deep Learning Prediction and Multi-technology Bayesian Integration</a:t>
            </a:r>
          </a:p>
        </p:txBody>
      </p:sp>
      <p:sp>
        <p:nvSpPr>
          <p:cNvPr id="28" name="sec-introd"/>
          <p:cNvSpPr>
            <a:spLocks noGrp="1"/>
          </p:cNvSpPr>
          <p:nvPr/>
        </p:nvSpPr>
        <p:spPr>
          <a:xfrm>
            <a:off x="204052" y="3229513"/>
            <a:ext cx="6626952" cy="5346449"/>
          </a:xfrm>
          <a:prstGeom prst="rect">
            <a:avLst/>
          </a:prstGeom>
          <a:noFill/>
          <a:ln w="9525">
            <a:solidFill>
              <a:srgbClr val="C4C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9" name="sec-introd-head"/>
          <p:cNvSpPr>
            <a:spLocks noGrp="1"/>
          </p:cNvSpPr>
          <p:nvPr/>
        </p:nvSpPr>
        <p:spPr>
          <a:xfrm>
            <a:off x="204052" y="3246600"/>
            <a:ext cx="6617460" cy="793057"/>
          </a:xfrm>
          <a:prstGeom prst="rect">
            <a:avLst/>
          </a:prstGeom>
          <a:solidFill>
            <a:srgbClr val="1B365D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0" name="sec-introd-title"/>
          <p:cNvSpPr>
            <a:spLocks noGrp="1"/>
          </p:cNvSpPr>
          <p:nvPr/>
        </p:nvSpPr>
        <p:spPr>
          <a:xfrm>
            <a:off x="362237" y="3379355"/>
            <a:ext cx="5459177" cy="97534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36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Abstract</a:t>
            </a:r>
            <a:endParaRPr sz="360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sec-result-title"/>
          <p:cNvSpPr>
            <a:spLocks noGrp="1"/>
          </p:cNvSpPr>
          <p:nvPr/>
        </p:nvSpPr>
        <p:spPr>
          <a:xfrm>
            <a:off x="7541434" y="12584249"/>
            <a:ext cx="7115437" cy="97534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enchmark</a:t>
            </a:r>
            <a:r>
              <a:rPr sz="2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m6A 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integration</a:t>
            </a:r>
            <a:endParaRPr sz="280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sec-discus"/>
          <p:cNvSpPr>
            <a:spLocks noGrp="1"/>
          </p:cNvSpPr>
          <p:nvPr/>
        </p:nvSpPr>
        <p:spPr>
          <a:xfrm>
            <a:off x="13892668" y="3229913"/>
            <a:ext cx="7365734" cy="18672721"/>
          </a:xfrm>
          <a:prstGeom prst="rect">
            <a:avLst/>
          </a:prstGeom>
          <a:noFill/>
          <a:ln w="9525">
            <a:solidFill>
              <a:srgbClr val="C4C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7" name="sec-conclu"/>
          <p:cNvSpPr>
            <a:spLocks noGrp="1"/>
          </p:cNvSpPr>
          <p:nvPr/>
        </p:nvSpPr>
        <p:spPr>
          <a:xfrm>
            <a:off x="13889948" y="22135265"/>
            <a:ext cx="7375298" cy="5321065"/>
          </a:xfrm>
          <a:prstGeom prst="rect">
            <a:avLst/>
          </a:prstGeom>
          <a:noFill/>
          <a:ln w="9525">
            <a:solidFill>
              <a:srgbClr val="C4C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8" name="sec-conclu-head"/>
          <p:cNvSpPr>
            <a:spLocks noGrp="1"/>
          </p:cNvSpPr>
          <p:nvPr/>
        </p:nvSpPr>
        <p:spPr>
          <a:xfrm>
            <a:off x="13896367" y="22135265"/>
            <a:ext cx="7348772" cy="749755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9" name="sec-conclu-title"/>
          <p:cNvSpPr>
            <a:spLocks noGrp="1"/>
          </p:cNvSpPr>
          <p:nvPr/>
        </p:nvSpPr>
        <p:spPr>
          <a:xfrm>
            <a:off x="14985873" y="16611948"/>
            <a:ext cx="6002202" cy="6858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2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Conclusion</a:t>
            </a:r>
            <a:endParaRPr sz="280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5" name="sec-acknow-head"/>
          <p:cNvSpPr>
            <a:spLocks noGrp="1"/>
          </p:cNvSpPr>
          <p:nvPr/>
        </p:nvSpPr>
        <p:spPr>
          <a:xfrm>
            <a:off x="13883104" y="27626817"/>
            <a:ext cx="7382142" cy="72957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6" name="sec-acknow-title"/>
          <p:cNvSpPr>
            <a:spLocks noGrp="1"/>
          </p:cNvSpPr>
          <p:nvPr/>
        </p:nvSpPr>
        <p:spPr>
          <a:xfrm>
            <a:off x="14065130" y="27730952"/>
            <a:ext cx="5459177" cy="5405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sz="28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pt-PT" altLang="zh-CN" sz="36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References</a:t>
            </a:r>
          </a:p>
        </p:txBody>
      </p:sp>
      <p:pic>
        <p:nvPicPr>
          <p:cNvPr id="107" name="图片 1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545" y="1679582"/>
            <a:ext cx="2880000" cy="1183623"/>
          </a:xfrm>
          <a:prstGeom prst="rect">
            <a:avLst/>
          </a:prstGeom>
        </p:spPr>
      </p:pic>
      <p:sp>
        <p:nvSpPr>
          <p:cNvPr id="35" name="sec-refere-title"/>
          <p:cNvSpPr>
            <a:spLocks noGrp="1"/>
          </p:cNvSpPr>
          <p:nvPr/>
        </p:nvSpPr>
        <p:spPr>
          <a:xfrm>
            <a:off x="15204212" y="3375043"/>
            <a:ext cx="7070987" cy="5583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defRPr sz="22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zh-CN" altLang="zh-CN" sz="3200" b="1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2" name="sec-conclu"/>
          <p:cNvSpPr>
            <a:spLocks noGrp="1"/>
          </p:cNvSpPr>
          <p:nvPr/>
        </p:nvSpPr>
        <p:spPr>
          <a:xfrm>
            <a:off x="204052" y="8707050"/>
            <a:ext cx="6617460" cy="6129043"/>
          </a:xfrm>
          <a:prstGeom prst="rect">
            <a:avLst/>
          </a:prstGeom>
          <a:noFill/>
          <a:ln w="9525">
            <a:solidFill>
              <a:srgbClr val="C4C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83" name="sec-conclu-head"/>
          <p:cNvSpPr>
            <a:spLocks noGrp="1"/>
          </p:cNvSpPr>
          <p:nvPr/>
        </p:nvSpPr>
        <p:spPr>
          <a:xfrm>
            <a:off x="189788" y="8693531"/>
            <a:ext cx="6626952" cy="81650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84" name="文本框 83"/>
          <p:cNvSpPr txBox="1"/>
          <p:nvPr/>
        </p:nvSpPr>
        <p:spPr>
          <a:xfrm>
            <a:off x="281637" y="9649614"/>
            <a:ext cx="6236118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n"/>
            </a:pPr>
            <a:r>
              <a:rPr lang="zh-CN" altLang="zh-CN" dirty="0">
                <a:latin typeface="Arial" panose="020B0604020202020204" pitchFamily="34" charset="0"/>
              </a:rPr>
              <a:t>Reliable m6A analysis depends on both accurate computational prediction and robust integration of heterogeneous experimental measurements. 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n"/>
            </a:pPr>
            <a:r>
              <a:rPr lang="zh-CN" altLang="zh-CN" dirty="0">
                <a:latin typeface="Arial" panose="020B0604020202020204" pitchFamily="34" charset="0"/>
              </a:rPr>
              <a:t>Deep-learning models can capture sequence patterns associated with quantitative m6A levels, while different m6A detection technologies may produce inconsistent signals because of technology-specific biases. We therefore evaluated long-context neural architectures for quantitative m6A prediction and benchmarked a hierarchical Bayesian integration model across multiple m6A technologies.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n"/>
            </a:pPr>
            <a:endParaRPr lang="en-US" altLang="zh-CN" dirty="0">
              <a:latin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n"/>
            </a:pPr>
            <a:r>
              <a:rPr lang="en-US" altLang="zh-CN" dirty="0">
                <a:latin typeface="Arial" panose="020B0604020202020204" pitchFamily="34" charset="0"/>
              </a:rPr>
              <a:t>These motivated two </a:t>
            </a:r>
            <a:r>
              <a:rPr lang="en-US" altLang="zh-CN" b="1" dirty="0">
                <a:latin typeface="Arial" panose="020B0604020202020204" pitchFamily="34" charset="0"/>
              </a:rPr>
              <a:t>research questions</a:t>
            </a:r>
            <a:r>
              <a:rPr lang="en-US" altLang="zh-CN" dirty="0">
                <a:latin typeface="Arial" panose="020B0604020202020204" pitchFamily="34" charset="0"/>
              </a:rPr>
              <a:t>: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altLang="zh-CN" b="1" dirty="0"/>
              <a:t>DL Models</a:t>
            </a:r>
            <a:r>
              <a:rPr lang="en-US" altLang="zh-CN" dirty="0"/>
              <a:t>: Can long-context modeling improve quantitative m6A prediction?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altLang="zh-CN" b="1" dirty="0"/>
              <a:t>Integration Benchmark</a:t>
            </a:r>
            <a:r>
              <a:rPr lang="en-US" altLang="zh-CN" dirty="0"/>
              <a:t>: Can multi-technology Bayesian integration provide robust m6A inference across heterogeneous detection technologies?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67937" y="4057216"/>
            <a:ext cx="6282758" cy="4524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ctr" anchorCtr="0" compatLnSpc="1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N6-methyladenosine (m6A)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regulates RNA fate, but quantitative 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methylation-level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and cross-technology detection remain uncertain.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compared 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short-/long-context-based deep learning models for quantitative m6A level prediction,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benchmarked ConquerBN across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 m6A technologies spanning five technology families.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Among the evaluated models,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ResMamba v1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zh-CN" altLang="zh-CN" dirty="0"/>
              <a:t>achieved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best quantitative prediction performance 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</a:rPr>
              <a:t>R² = 0.7352).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leave-one-technology-out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(LOTO)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leave-one-family-out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(LOFO)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evaluations,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ConquerBN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outperformed IDR, RRA, and RankProduct. Posterior-defined TP, FP, FN, and TN sites were further examined using genomic features and meta-transcript distributions to characterize technology-specific errors.</a:t>
            </a:r>
          </a:p>
        </p:txBody>
      </p:sp>
      <p:sp>
        <p:nvSpPr>
          <p:cNvPr id="90" name="sec-introd-title"/>
          <p:cNvSpPr>
            <a:spLocks noGrp="1"/>
          </p:cNvSpPr>
          <p:nvPr/>
        </p:nvSpPr>
        <p:spPr>
          <a:xfrm>
            <a:off x="370339" y="8829922"/>
            <a:ext cx="5459177" cy="97534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36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Introduction</a:t>
            </a:r>
            <a:endParaRPr sz="360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3" name="sec-conclu"/>
          <p:cNvSpPr>
            <a:spLocks noGrp="1"/>
          </p:cNvSpPr>
          <p:nvPr/>
        </p:nvSpPr>
        <p:spPr>
          <a:xfrm>
            <a:off x="202755" y="15105041"/>
            <a:ext cx="6613985" cy="14872377"/>
          </a:xfrm>
          <a:prstGeom prst="rect">
            <a:avLst/>
          </a:prstGeom>
          <a:noFill/>
          <a:ln w="9525">
            <a:solidFill>
              <a:srgbClr val="C4C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b="1"/>
          </a:p>
        </p:txBody>
      </p:sp>
      <p:sp>
        <p:nvSpPr>
          <p:cNvPr id="94" name="sec-conclu-head"/>
          <p:cNvSpPr>
            <a:spLocks noGrp="1"/>
          </p:cNvSpPr>
          <p:nvPr/>
        </p:nvSpPr>
        <p:spPr>
          <a:xfrm>
            <a:off x="210545" y="15102495"/>
            <a:ext cx="6610967" cy="81650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b="1"/>
          </a:p>
        </p:txBody>
      </p:sp>
      <p:sp>
        <p:nvSpPr>
          <p:cNvPr id="95" name="sec-conclu-title"/>
          <p:cNvSpPr>
            <a:spLocks noGrp="1"/>
          </p:cNvSpPr>
          <p:nvPr/>
        </p:nvSpPr>
        <p:spPr>
          <a:xfrm>
            <a:off x="362237" y="15233651"/>
            <a:ext cx="6335366" cy="620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36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Methodology</a:t>
            </a:r>
            <a:endParaRPr sz="3600" b="1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309578" y="16066680"/>
            <a:ext cx="61802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Data: 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The data were derived from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GLORI-seq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, with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400,000 sites 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randomly picked from approximately 1,280,000 candidates.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Loss function: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All loss functions integrate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m6A counts as weights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Short-context models: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Mean Square Error (MSE)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Long-context models: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Binary Cross-Entropy (BCE)</a:t>
            </a:r>
          </a:p>
          <a:p>
            <a:endParaRPr lang="zh-CN" altLang="en-US" b="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275530" y="28083593"/>
            <a:ext cx="654121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dirty="0" err="1">
                <a:solidFill>
                  <a:srgbClr val="000000"/>
                </a:solidFill>
                <a:latin typeface="Arial" panose="020B0604020202020204"/>
              </a:rPr>
              <a:t>ResNet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 v4 and v5 mainly differ in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residual blocks 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(40 vs. 36), while </a:t>
            </a:r>
            <a:r>
              <a:rPr lang="en-US" altLang="zh-CN" dirty="0" err="1">
                <a:solidFill>
                  <a:srgbClr val="000000"/>
                </a:solidFill>
                <a:latin typeface="Arial" panose="020B0604020202020204"/>
              </a:rPr>
              <a:t>ResNet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 v5 closely reproduces the original iM6A-style architecture.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dirty="0" err="1">
                <a:solidFill>
                  <a:srgbClr val="000000"/>
                </a:solidFill>
                <a:latin typeface="Arial" panose="020B0604020202020204"/>
              </a:rPr>
              <a:t>ResMamba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 compresses 10,001 bp into shorter tokens, applies </a:t>
            </a:r>
            <a:r>
              <a:rPr lang="en-US" altLang="zh-CN" dirty="0" err="1">
                <a:solidFill>
                  <a:srgbClr val="000000"/>
                </a:solidFill>
                <a:latin typeface="Arial" panose="020B0604020202020204"/>
              </a:rPr>
              <a:t>BiMamba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, then decodes and fuses local/global features.</a:t>
            </a:r>
          </a:p>
        </p:txBody>
      </p:sp>
      <p:sp>
        <p:nvSpPr>
          <p:cNvPr id="137" name="sec-method"/>
          <p:cNvSpPr>
            <a:spLocks noGrp="1"/>
          </p:cNvSpPr>
          <p:nvPr/>
        </p:nvSpPr>
        <p:spPr>
          <a:xfrm>
            <a:off x="6986868" y="3228913"/>
            <a:ext cx="6740445" cy="21354272"/>
          </a:xfrm>
          <a:prstGeom prst="rect">
            <a:avLst/>
          </a:prstGeom>
          <a:noFill/>
          <a:ln w="9525">
            <a:solidFill>
              <a:srgbClr val="C4C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38" name="sec-method-head"/>
          <p:cNvSpPr>
            <a:spLocks noGrp="1"/>
          </p:cNvSpPr>
          <p:nvPr/>
        </p:nvSpPr>
        <p:spPr>
          <a:xfrm>
            <a:off x="6986868" y="3229913"/>
            <a:ext cx="6740446" cy="802925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dirty="0"/>
          </a:p>
        </p:txBody>
      </p:sp>
      <p:sp>
        <p:nvSpPr>
          <p:cNvPr id="139" name="sec-method-title"/>
          <p:cNvSpPr>
            <a:spLocks noGrp="1"/>
          </p:cNvSpPr>
          <p:nvPr/>
        </p:nvSpPr>
        <p:spPr>
          <a:xfrm>
            <a:off x="7144380" y="3357952"/>
            <a:ext cx="5229223" cy="5444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3600" b="1" dirty="0">
                <a:solidFill>
                  <a:srgbClr val="FFFFFF"/>
                </a:solidFill>
                <a:latin typeface="Arial" panose="020B0604020202020204"/>
              </a:rPr>
              <a:t>Results: </a:t>
            </a:r>
            <a:r>
              <a:rPr lang="zh-CN" altLang="zh-CN" sz="3600" b="1" dirty="0">
                <a:solidFill>
                  <a:srgbClr val="FFFFFF"/>
                </a:solidFill>
                <a:latin typeface="Arial" panose="020B0604020202020204"/>
              </a:rPr>
              <a:t>Model</a:t>
            </a:r>
          </a:p>
        </p:txBody>
      </p:sp>
      <p:sp>
        <p:nvSpPr>
          <p:cNvPr id="140" name="Rounded Rectangle 114"/>
          <p:cNvSpPr/>
          <p:nvPr/>
        </p:nvSpPr>
        <p:spPr>
          <a:xfrm>
            <a:off x="7273971" y="4118016"/>
            <a:ext cx="6236118" cy="384042"/>
          </a:xfrm>
          <a:prstGeom prst="roundRect">
            <a:avLst>
              <a:gd name="adj" fmla="val 0"/>
            </a:avLst>
          </a:prstGeom>
          <a:solidFill>
            <a:srgbClr val="081037"/>
          </a:solidFill>
          <a:ln>
            <a:solidFill>
              <a:srgbClr val="081037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5" bIns="36575" rtlCol="0" anchor="ctr"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sz="1950" b="1" dirty="0">
                <a:solidFill>
                  <a:srgbClr val="FFFFFF"/>
                </a:solidFill>
                <a:latin typeface="Arial" panose="020B0604020202020204"/>
              </a:rPr>
              <a:t>Short-context attribution evidence</a:t>
            </a:r>
          </a:p>
        </p:txBody>
      </p:sp>
      <p:pic>
        <p:nvPicPr>
          <p:cNvPr id="141" name="Picture 1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3676" y="4561075"/>
            <a:ext cx="6479907" cy="3474167"/>
          </a:xfrm>
          <a:prstGeom prst="rect">
            <a:avLst/>
          </a:prstGeom>
        </p:spPr>
      </p:pic>
      <p:sp>
        <p:nvSpPr>
          <p:cNvPr id="142" name="TextBox 116"/>
          <p:cNvSpPr txBox="1"/>
          <p:nvPr/>
        </p:nvSpPr>
        <p:spPr>
          <a:xfrm>
            <a:off x="7397441" y="8124660"/>
            <a:ext cx="6071529" cy="595010"/>
          </a:xfrm>
          <a:prstGeom prst="rect">
            <a:avLst/>
          </a:prstGeom>
          <a:noFill/>
        </p:spPr>
        <p:txBody>
          <a:bodyPr wrap="square" tIns="36575" bIns="36575">
            <a:noAutofit/>
          </a:bodyPr>
          <a:lstStyle/>
          <a:p>
            <a:r>
              <a:rPr lang="en-US" altLang="zh-CN" sz="1600" b="0" i="1" dirty="0">
                <a:solidFill>
                  <a:srgbClr val="000000"/>
                </a:solidFill>
                <a:latin typeface="Arial" panose="020B0604020202020204"/>
              </a:rPr>
              <a:t>Fig.</a:t>
            </a:r>
            <a:r>
              <a:rPr lang="en-US" altLang="zh-CN" sz="1600" i="1" dirty="0">
                <a:solidFill>
                  <a:srgbClr val="000000"/>
                </a:solidFill>
                <a:latin typeface="Arial" panose="020B0604020202020204"/>
              </a:rPr>
              <a:t> 2</a:t>
            </a:r>
            <a:r>
              <a:rPr lang="en-US" altLang="zh-CN" sz="1600" b="0" i="1" dirty="0">
                <a:solidFill>
                  <a:srgbClr val="000000"/>
                </a:solidFill>
                <a:latin typeface="Arial" panose="020B0604020202020204"/>
              </a:rPr>
              <a:t>. Position-wise mean absolute attribution scores for three models with 1,001 bp input</a:t>
            </a:r>
            <a:r>
              <a:rPr lang="en-US" altLang="zh-CN" sz="1600" i="1" dirty="0">
                <a:solidFill>
                  <a:srgbClr val="000000"/>
                </a:solidFill>
                <a:latin typeface="Arial" panose="020B0604020202020204"/>
              </a:rPr>
              <a:t>.</a:t>
            </a:r>
            <a:r>
              <a:rPr lang="en-US" altLang="zh-CN" sz="1600" b="0" i="1" dirty="0">
                <a:solidFill>
                  <a:srgbClr val="000000"/>
                </a:solidFill>
                <a:latin typeface="Arial" panose="020B0604020202020204"/>
              </a:rPr>
              <a:t> </a:t>
            </a:r>
          </a:p>
        </p:txBody>
      </p:sp>
      <p:sp>
        <p:nvSpPr>
          <p:cNvPr id="143" name="文本框 142"/>
          <p:cNvSpPr txBox="1"/>
          <p:nvPr/>
        </p:nvSpPr>
        <p:spPr>
          <a:xfrm>
            <a:off x="7144380" y="8625311"/>
            <a:ext cx="6647366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1800" b="0" dirty="0">
                <a:solidFill>
                  <a:srgbClr val="000000"/>
                </a:solidFill>
                <a:latin typeface="Arial" panose="020B0604020202020204"/>
              </a:rPr>
              <a:t>With 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/>
              </a:rPr>
              <a:t>1,001 bp </a:t>
            </a:r>
            <a:r>
              <a:rPr lang="en-US" altLang="zh-CN" sz="1800" b="0" dirty="0">
                <a:solidFill>
                  <a:srgbClr val="000000"/>
                </a:solidFill>
                <a:latin typeface="Arial" panose="020B0604020202020204"/>
              </a:rPr>
              <a:t>input, 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/>
              </a:rPr>
              <a:t>Mamba</a:t>
            </a:r>
            <a:r>
              <a:rPr lang="en-US" altLang="zh-CN" sz="1800" b="0" dirty="0">
                <a:solidFill>
                  <a:srgbClr val="000000"/>
                </a:solidFill>
                <a:latin typeface="Arial" panose="020B0604020202020204"/>
              </a:rPr>
              <a:t> shows the strongest site-centered attribution peak.</a:t>
            </a:r>
          </a:p>
        </p:txBody>
      </p:sp>
      <p:sp>
        <p:nvSpPr>
          <p:cNvPr id="144" name="Rounded Rectangle 126"/>
          <p:cNvSpPr/>
          <p:nvPr/>
        </p:nvSpPr>
        <p:spPr>
          <a:xfrm>
            <a:off x="7317719" y="9375886"/>
            <a:ext cx="6235110" cy="384042"/>
          </a:xfrm>
          <a:prstGeom prst="roundRect">
            <a:avLst>
              <a:gd name="adj" fmla="val 0"/>
            </a:avLst>
          </a:prstGeom>
          <a:solidFill>
            <a:srgbClr val="0D1C4A"/>
          </a:solidFill>
          <a:ln>
            <a:solidFill>
              <a:srgbClr val="0D1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50" b="1" dirty="0">
                <a:solidFill>
                  <a:srgbClr val="FFFFFF"/>
                </a:solidFill>
                <a:latin typeface="Arial" panose="020B0604020202020204"/>
              </a:rPr>
              <a:t>Long-context-based m</a:t>
            </a:r>
            <a:r>
              <a:rPr sz="1950" b="1" dirty="0">
                <a:solidFill>
                  <a:srgbClr val="FFFFFF"/>
                </a:solidFill>
                <a:latin typeface="Arial" panose="020B0604020202020204"/>
              </a:rPr>
              <a:t>odel performance</a:t>
            </a:r>
          </a:p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3676" y="9984449"/>
            <a:ext cx="6479907" cy="3461429"/>
          </a:xfrm>
          <a:prstGeom prst="rect">
            <a:avLst/>
          </a:prstGeom>
        </p:spPr>
      </p:pic>
      <p:sp>
        <p:nvSpPr>
          <p:cNvPr id="147" name="TextBox 116"/>
          <p:cNvSpPr txBox="1"/>
          <p:nvPr/>
        </p:nvSpPr>
        <p:spPr>
          <a:xfrm>
            <a:off x="7397440" y="20227922"/>
            <a:ext cx="6071529" cy="829203"/>
          </a:xfrm>
          <a:prstGeom prst="rect">
            <a:avLst/>
          </a:prstGeom>
          <a:noFill/>
        </p:spPr>
        <p:txBody>
          <a:bodyPr wrap="square" tIns="36575" bIns="36575">
            <a:noAutofit/>
          </a:bodyPr>
          <a:lstStyle/>
          <a:p>
            <a:r>
              <a:rPr lang="en-US" altLang="zh-CN" sz="1600" i="1" dirty="0">
                <a:solidFill>
                  <a:srgbClr val="000000"/>
                </a:solidFill>
                <a:latin typeface="Arial" panose="020B0604020202020204"/>
              </a:rPr>
              <a:t>Fig. 4. </a:t>
            </a:r>
            <a:r>
              <a:rPr lang="en-US" altLang="zh-CN" sz="1600" i="1" dirty="0" err="1">
                <a:solidFill>
                  <a:srgbClr val="000000"/>
                </a:solidFill>
                <a:latin typeface="Arial" panose="020B0604020202020204"/>
              </a:rPr>
              <a:t>ResMamba</a:t>
            </a:r>
            <a:r>
              <a:rPr lang="en-US" altLang="zh-CN" sz="1600" i="1" dirty="0">
                <a:solidFill>
                  <a:srgbClr val="000000"/>
                </a:solidFill>
                <a:latin typeface="Arial" panose="020B0604020202020204"/>
              </a:rPr>
              <a:t> v1 predictions on the shared test set (n = 40,000). The dashed line denotes perfect calibration.</a:t>
            </a:r>
          </a:p>
        </p:txBody>
      </p:sp>
      <p:sp>
        <p:nvSpPr>
          <p:cNvPr id="148" name="文本框 147"/>
          <p:cNvSpPr txBox="1"/>
          <p:nvPr/>
        </p:nvSpPr>
        <p:spPr>
          <a:xfrm>
            <a:off x="7198707" y="13928681"/>
            <a:ext cx="6014107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</a:rPr>
              <a:t>All four long-context models used 10,001 bp input.</a:t>
            </a:r>
          </a:p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</a:rPr>
              <a:t>Among 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four representative models, </a:t>
            </a:r>
            <a:r>
              <a:rPr lang="en-US" altLang="zh-CN" sz="1800" dirty="0" err="1">
                <a:solidFill>
                  <a:srgbClr val="000000"/>
                </a:solidFill>
                <a:latin typeface="Arial" panose="020B0604020202020204"/>
              </a:rPr>
              <a:t>ResMamba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</a:rPr>
              <a:t> v1 achieved the best overall performance. </a:t>
            </a:r>
            <a:r>
              <a:rPr lang="en-US" altLang="zh-CN" sz="1800" dirty="0" err="1">
                <a:solidFill>
                  <a:srgbClr val="000000"/>
                </a:solidFill>
                <a:latin typeface="Arial" panose="020B0604020202020204"/>
              </a:rPr>
              <a:t>ResMamba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</a:rPr>
              <a:t> v2 generally ranked second, whereas </a:t>
            </a:r>
            <a:r>
              <a:rPr lang="en-US" altLang="zh-CN" sz="1800" dirty="0" err="1">
                <a:solidFill>
                  <a:srgbClr val="000000"/>
                </a:solidFill>
                <a:latin typeface="Arial" panose="020B0604020202020204"/>
              </a:rPr>
              <a:t>ResNet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</a:rPr>
              <a:t> v4/v5 provided strong iM6A-style baselines.</a:t>
            </a:r>
            <a:endParaRPr lang="en-US" altLang="zh-CN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7397441" y="13347882"/>
            <a:ext cx="581424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000000"/>
                </a:solidFill>
                <a:latin typeface="Arial" panose="020B0604020202020204"/>
              </a:rPr>
              <a:t>Fig. 3. Comparison of five regression metrics across four long-context-based models. 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7133304" y="20832794"/>
            <a:ext cx="6543721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800" b="1" dirty="0" err="1">
                <a:solidFill>
                  <a:srgbClr val="000000"/>
                </a:solidFill>
                <a:latin typeface="Arial" panose="020B0604020202020204"/>
              </a:rPr>
              <a:t>ResMamba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/>
              </a:rPr>
              <a:t> v1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</a:rPr>
              <a:t> showed the highest Pearson correlation, Spearman correlation, and R², together with the lowest RMSE and MAE. In terms of classification performance, the model additionally achieved an AUROC of 0.7008 and an AUPRC of 0.9243.</a:t>
            </a:r>
          </a:p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</a:rPr>
              <a:t>The predictions broadly reproduced the 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/>
              </a:rPr>
              <a:t>strongly right-skewed test distribution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</a:rPr>
              <a:t>, although the scatter showed regression 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/>
              </a:rPr>
              <a:t>toward intermediate values 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</a:rPr>
              <a:t>and 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/>
              </a:rPr>
              <a:t>underestimation at high methylation levels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</a:rPr>
              <a:t>Principally, </a:t>
            </a:r>
            <a:r>
              <a:rPr lang="en-US" altLang="zh-CN" b="1" dirty="0">
                <a:solidFill>
                  <a:srgbClr val="000000"/>
                </a:solidFill>
              </a:rPr>
              <a:t>Mamba</a:t>
            </a:r>
            <a:r>
              <a:rPr lang="en-US" altLang="zh-CN" dirty="0">
                <a:solidFill>
                  <a:srgbClr val="000000"/>
                </a:solidFill>
              </a:rPr>
              <a:t> identifies sensitive site-centered signals in short windows; </a:t>
            </a:r>
            <a:r>
              <a:rPr lang="en-US" altLang="zh-CN" b="1" dirty="0">
                <a:solidFill>
                  <a:srgbClr val="000000"/>
                </a:solidFill>
              </a:rPr>
              <a:t>U-Net-style </a:t>
            </a:r>
            <a:r>
              <a:rPr lang="en-US" altLang="zh-CN" b="1" dirty="0" err="1">
                <a:solidFill>
                  <a:srgbClr val="000000"/>
                </a:solidFill>
              </a:rPr>
              <a:t>ResMamba</a:t>
            </a:r>
            <a:r>
              <a:rPr lang="en-US" altLang="zh-CN" b="1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extends these signals to 10,001-bp inputs by combining </a:t>
            </a:r>
            <a:r>
              <a:rPr lang="en-US" altLang="zh-CN" b="1" dirty="0" err="1">
                <a:solidFill>
                  <a:srgbClr val="000000"/>
                </a:solidFill>
              </a:rPr>
              <a:t>ResNet</a:t>
            </a:r>
            <a:r>
              <a:rPr lang="en-US" altLang="zh-CN" dirty="0">
                <a:solidFill>
                  <a:srgbClr val="000000"/>
                </a:solidFill>
              </a:rPr>
              <a:t> local motifs with </a:t>
            </a:r>
            <a:r>
              <a:rPr lang="en-US" altLang="zh-CN" b="1" dirty="0" err="1">
                <a:solidFill>
                  <a:srgbClr val="000000"/>
                </a:solidFill>
              </a:rPr>
              <a:t>BiMamba</a:t>
            </a:r>
            <a:r>
              <a:rPr lang="en-US" altLang="zh-CN" dirty="0">
                <a:solidFill>
                  <a:srgbClr val="000000"/>
                </a:solidFill>
              </a:rPr>
              <a:t> long-range context.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CN" sz="180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9" name="Text Placeholder 12"/>
          <p:cNvSpPr txBox="1"/>
          <p:nvPr/>
        </p:nvSpPr>
        <p:spPr>
          <a:xfrm>
            <a:off x="14081755" y="3949941"/>
            <a:ext cx="6860090" cy="3708314"/>
          </a:xfrm>
          <a:prstGeom prst="rect">
            <a:avLst/>
          </a:prstGeom>
        </p:spPr>
        <p:txBody>
          <a:bodyPr vert="horz" wrap="square" lIns="91437" tIns="45718" rIns="91437" bIns="45718" anchor="t">
            <a:normAutofit/>
          </a:bodyPr>
          <a:lstStyle>
            <a:lvl1pPr marL="0" indent="0" algn="l" defTabSz="457200">
              <a:spcBef>
                <a:spcPct val="20000"/>
              </a:spcBef>
              <a:buFont typeface="Arial" panose="020B0604020202020204"/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457200">
              <a:spcBef>
                <a:spcPct val="20000"/>
              </a:spcBef>
              <a:buFont typeface="Arial" panose="020B0604020202020204"/>
              <a:buNone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457200">
              <a:spcBef>
                <a:spcPct val="20000"/>
              </a:spcBef>
              <a:buFont typeface="Arial" panose="020B0604020202020204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457200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457200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457200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457200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457200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457200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342900" indent="-342900" algn="just">
              <a:lnSpc>
                <a:spcPct val="112000"/>
              </a:lnSpc>
              <a:buFont typeface="Wingdings" panose="05000000000000000000" pitchFamily="2" charset="2"/>
              <a:buChar char="n"/>
              <a:defRPr sz="1950">
                <a:solidFill>
                  <a:srgbClr val="2D374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sz="1800" dirty="0">
              <a:solidFill>
                <a:srgbClr val="000000"/>
              </a:solidFill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0" name="fig-3-caption"/>
          <p:cNvSpPr>
            <a:spLocks noGrp="1"/>
          </p:cNvSpPr>
          <p:nvPr/>
        </p:nvSpPr>
        <p:spPr>
          <a:xfrm>
            <a:off x="14098027" y="6885705"/>
            <a:ext cx="6709600" cy="52693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  <a:defRPr sz="1350">
                <a:solidFill>
                  <a:srgbClr val="5A65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i="1" dirty="0">
                <a:solidFill>
                  <a:srgbClr val="000000"/>
                </a:solidFill>
                <a:latin typeface="Arial" panose="020B0604020202020204"/>
              </a:rPr>
              <a:t>Table 1. Cross-technology and cross-family benchmark. </a:t>
            </a:r>
          </a:p>
        </p:txBody>
      </p:sp>
      <p:graphicFrame>
        <p:nvGraphicFramePr>
          <p:cNvPr id="161" name="benchmark-native-table"/>
          <p:cNvGraphicFramePr/>
          <p:nvPr/>
        </p:nvGraphicFramePr>
        <p:xfrm>
          <a:off x="14219070" y="3949941"/>
          <a:ext cx="6762750" cy="2889505"/>
        </p:xfrm>
        <a:graphic>
          <a:graphicData uri="http://schemas.openxmlformats.org/drawingml/2006/table">
            <a:tbl>
              <a:tblPr/>
              <a:tblGrid>
                <a:gridCol w="151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2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7901">
                <a:tc>
                  <a:txBody>
                    <a:bodyPr/>
                    <a:lstStyle/>
                    <a:p>
                      <a:pPr algn="ctr"/>
                      <a:r>
                        <a:rPr sz="1575" b="1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Method</a:t>
                      </a:r>
                    </a:p>
                  </a:txBody>
                  <a:tcPr marL="91437" marR="91437" marT="45718" marB="45718" anchor="ctr">
                    <a:solidFill>
                      <a:srgbClr val="203E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LOTO</a:t>
                      </a:r>
                      <a:endParaRPr lang="pt-PT" sz="1575" b="1" dirty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pt-PT" sz="1575" b="1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AUROC</a:t>
                      </a:r>
                    </a:p>
                  </a:txBody>
                  <a:tcPr marL="91437" marR="91437" marT="45718" marB="45718" anchor="ctr">
                    <a:solidFill>
                      <a:srgbClr val="203E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LOTO</a:t>
                      </a:r>
                    </a:p>
                    <a:p>
                      <a:pPr algn="ctr"/>
                      <a:r>
                        <a:rPr sz="1575" b="1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AUPRC</a:t>
                      </a:r>
                    </a:p>
                  </a:txBody>
                  <a:tcPr marL="91437" marR="91437" marT="45718" marB="45718" anchor="ctr">
                    <a:solidFill>
                      <a:srgbClr val="203E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LOFO</a:t>
                      </a:r>
                    </a:p>
                    <a:p>
                      <a:pPr algn="ctr"/>
                      <a:r>
                        <a:rPr sz="1575" b="1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AUROC</a:t>
                      </a:r>
                    </a:p>
                  </a:txBody>
                  <a:tcPr marL="91437" marR="91437" marT="45718" marB="45718" anchor="ctr">
                    <a:solidFill>
                      <a:srgbClr val="203E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LOFO</a:t>
                      </a:r>
                    </a:p>
                    <a:p>
                      <a:pPr algn="ctr"/>
                      <a:r>
                        <a:rPr sz="1575" b="1" dirty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AUPRC</a:t>
                      </a:r>
                    </a:p>
                  </a:txBody>
                  <a:tcPr marL="91437" marR="91437" marT="45718" marB="45718" anchor="ctr">
                    <a:solidFill>
                      <a:srgbClr val="203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901">
                <a:tc>
                  <a:txBody>
                    <a:bodyPr/>
                    <a:lstStyle/>
                    <a:p>
                      <a:pPr algn="l"/>
                      <a:r>
                        <a:rPr sz="1725" b="1" dirty="0" err="1">
                          <a:solidFill>
                            <a:srgbClr val="203E63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ConquerBN</a:t>
                      </a:r>
                      <a:endParaRPr sz="1725" b="1" dirty="0">
                        <a:solidFill>
                          <a:srgbClr val="203E63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91437" marR="91437" marT="45718" marB="4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 dirty="0">
                          <a:solidFill>
                            <a:srgbClr val="203E63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0.787</a:t>
                      </a:r>
                    </a:p>
                  </a:txBody>
                  <a:tcPr marL="91437" marR="91437" marT="45718" marB="4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 dirty="0">
                          <a:solidFill>
                            <a:srgbClr val="203E63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0.678</a:t>
                      </a:r>
                    </a:p>
                  </a:txBody>
                  <a:tcPr marL="91437" marR="91437" marT="45718" marB="4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 dirty="0">
                          <a:solidFill>
                            <a:srgbClr val="203E63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0.768</a:t>
                      </a:r>
                    </a:p>
                  </a:txBody>
                  <a:tcPr marL="91437" marR="91437" marT="45718" marB="4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 dirty="0">
                          <a:solidFill>
                            <a:srgbClr val="203E63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0.664</a:t>
                      </a:r>
                    </a:p>
                  </a:txBody>
                  <a:tcPr marL="91437" marR="91437" marT="45718" marB="4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901">
                <a:tc>
                  <a:txBody>
                    <a:bodyPr/>
                    <a:lstStyle/>
                    <a:p>
                      <a:pPr algn="l"/>
                      <a:r>
                        <a:rPr sz="1725" b="0" dirty="0">
                          <a:solidFill>
                            <a:srgbClr val="1F293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IDR</a:t>
                      </a:r>
                    </a:p>
                  </a:txBody>
                  <a:tcPr marL="91437" marR="91437" marT="45718" marB="4571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1F293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0.718</a:t>
                      </a:r>
                    </a:p>
                  </a:txBody>
                  <a:tcPr marL="91437" marR="91437" marT="45718" marB="4571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1F293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0.603</a:t>
                      </a:r>
                    </a:p>
                  </a:txBody>
                  <a:tcPr marL="91437" marR="91437" marT="45718" marB="4571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1F293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0.671</a:t>
                      </a:r>
                    </a:p>
                  </a:txBody>
                  <a:tcPr marL="91437" marR="91437" marT="45718" marB="4571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1F293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0.566</a:t>
                      </a:r>
                    </a:p>
                  </a:txBody>
                  <a:tcPr marL="91437" marR="91437" marT="45718" marB="4571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901">
                <a:tc>
                  <a:txBody>
                    <a:bodyPr/>
                    <a:lstStyle/>
                    <a:p>
                      <a:pPr algn="l"/>
                      <a:r>
                        <a:rPr sz="1725" b="0" dirty="0">
                          <a:solidFill>
                            <a:srgbClr val="1F293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RRA</a:t>
                      </a:r>
                    </a:p>
                  </a:txBody>
                  <a:tcPr marL="91437" marR="91437" marT="45718" marB="4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1F293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0.691</a:t>
                      </a:r>
                    </a:p>
                  </a:txBody>
                  <a:tcPr marL="91437" marR="91437" marT="45718" marB="4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1F293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0.531</a:t>
                      </a:r>
                    </a:p>
                  </a:txBody>
                  <a:tcPr marL="91437" marR="91437" marT="45718" marB="4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1F293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0.658</a:t>
                      </a:r>
                    </a:p>
                  </a:txBody>
                  <a:tcPr marL="91437" marR="91437" marT="45718" marB="4571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1F293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0.503</a:t>
                      </a:r>
                    </a:p>
                  </a:txBody>
                  <a:tcPr marL="91437" marR="91437" marT="45718" marB="4571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901">
                <a:tc>
                  <a:txBody>
                    <a:bodyPr/>
                    <a:lstStyle/>
                    <a:p>
                      <a:pPr algn="l"/>
                      <a:r>
                        <a:rPr sz="1725" b="0" dirty="0" err="1">
                          <a:solidFill>
                            <a:srgbClr val="1F293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RankProduct</a:t>
                      </a:r>
                      <a:endParaRPr sz="1725" b="0" dirty="0">
                        <a:solidFill>
                          <a:srgbClr val="1F2937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91437" marR="91437" marT="45718" marB="4571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1F293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0.678</a:t>
                      </a:r>
                    </a:p>
                  </a:txBody>
                  <a:tcPr marL="91437" marR="91437" marT="45718" marB="4571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1F293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0.523</a:t>
                      </a:r>
                    </a:p>
                  </a:txBody>
                  <a:tcPr marL="91437" marR="91437" marT="45718" marB="4571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1F293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0.641</a:t>
                      </a:r>
                    </a:p>
                  </a:txBody>
                  <a:tcPr marL="91437" marR="91437" marT="45718" marB="4571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1F293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0.492</a:t>
                      </a:r>
                    </a:p>
                  </a:txBody>
                  <a:tcPr marL="91437" marR="91437" marT="45718" marB="4571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62" name="图片 161"/>
          <p:cNvPicPr>
            <a:picLocks noChangeAspect="1"/>
          </p:cNvPicPr>
          <p:nvPr/>
        </p:nvPicPr>
        <p:blipFill>
          <a:blip r:embed="rId8"/>
          <a:srcRect l="2947" t="20858" r="63589" b="22968"/>
          <a:stretch>
            <a:fillRect/>
          </a:stretch>
        </p:blipFill>
        <p:spPr>
          <a:xfrm>
            <a:off x="14274635" y="15211118"/>
            <a:ext cx="2951441" cy="3529984"/>
          </a:xfrm>
          <a:prstGeom prst="rect">
            <a:avLst/>
          </a:prstGeom>
        </p:spPr>
      </p:pic>
      <p:pic>
        <p:nvPicPr>
          <p:cNvPr id="163" name="图片 162"/>
          <p:cNvPicPr>
            <a:picLocks noChangeAspect="1"/>
          </p:cNvPicPr>
          <p:nvPr/>
        </p:nvPicPr>
        <p:blipFill>
          <a:blip r:embed="rId8"/>
          <a:srcRect r="64476" b="86393"/>
          <a:stretch>
            <a:fillRect/>
          </a:stretch>
        </p:blipFill>
        <p:spPr>
          <a:xfrm>
            <a:off x="14309546" y="15002825"/>
            <a:ext cx="2053912" cy="560560"/>
          </a:xfrm>
          <a:prstGeom prst="rect">
            <a:avLst/>
          </a:prstGeom>
        </p:spPr>
      </p:pic>
      <p:pic>
        <p:nvPicPr>
          <p:cNvPr id="164" name="图片 16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57440" y="18559271"/>
            <a:ext cx="3466383" cy="2542014"/>
          </a:xfrm>
          <a:prstGeom prst="rect">
            <a:avLst/>
          </a:prstGeom>
        </p:spPr>
      </p:pic>
      <p:pic>
        <p:nvPicPr>
          <p:cNvPr id="166" name="图片 165"/>
          <p:cNvPicPr>
            <a:picLocks noChangeAspect="1"/>
          </p:cNvPicPr>
          <p:nvPr/>
        </p:nvPicPr>
        <p:blipFill>
          <a:blip r:embed="rId10"/>
          <a:srcRect l="35143" t="37" b="-1"/>
          <a:stretch>
            <a:fillRect/>
          </a:stretch>
        </p:blipFill>
        <p:spPr>
          <a:xfrm>
            <a:off x="17192512" y="14987803"/>
            <a:ext cx="3417785" cy="3753299"/>
          </a:xfrm>
          <a:prstGeom prst="rect">
            <a:avLst/>
          </a:prstGeom>
        </p:spPr>
      </p:pic>
      <p:sp>
        <p:nvSpPr>
          <p:cNvPr id="168" name="Rounded Rectangle 112"/>
          <p:cNvSpPr/>
          <p:nvPr/>
        </p:nvSpPr>
        <p:spPr>
          <a:xfrm>
            <a:off x="14115825" y="3305794"/>
            <a:ext cx="6964878" cy="442647"/>
          </a:xfrm>
          <a:prstGeom prst="roundRect">
            <a:avLst>
              <a:gd name="adj" fmla="val 0"/>
            </a:avLst>
          </a:prstGeom>
          <a:solidFill>
            <a:srgbClr val="081037"/>
          </a:solidFill>
          <a:ln>
            <a:solidFill>
              <a:srgbClr val="081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5" tIns="27431" rIns="73150" bIns="27431" rtlCol="0" anchor="ctr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altLang="zh-CN" sz="2000" b="1" dirty="0"/>
              <a:t>Cross-technology and cross-family benchmark</a:t>
            </a:r>
            <a:endParaRPr lang="zh-CN" altLang="en-US" sz="2000" b="1" dirty="0"/>
          </a:p>
        </p:txBody>
      </p:sp>
      <p:sp>
        <p:nvSpPr>
          <p:cNvPr id="169" name="fig-4-caption"/>
          <p:cNvSpPr>
            <a:spLocks noGrp="1"/>
          </p:cNvSpPr>
          <p:nvPr/>
        </p:nvSpPr>
        <p:spPr>
          <a:xfrm>
            <a:off x="14234411" y="18212790"/>
            <a:ext cx="5983328" cy="55244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buNone/>
              <a:defRPr sz="1725" b="1">
                <a:solidFill>
                  <a:srgbClr val="203E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 dirty="0">
                <a:solidFill>
                  <a:schemeClr val="bg2">
                    <a:lumMod val="1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  Representative meta-transcript distributions</a:t>
            </a:r>
          </a:p>
        </p:txBody>
      </p:sp>
      <p:sp>
        <p:nvSpPr>
          <p:cNvPr id="170" name="Rounded Rectangle 112"/>
          <p:cNvSpPr/>
          <p:nvPr/>
        </p:nvSpPr>
        <p:spPr>
          <a:xfrm>
            <a:off x="14060804" y="14630478"/>
            <a:ext cx="7019899" cy="434775"/>
          </a:xfrm>
          <a:prstGeom prst="roundRect">
            <a:avLst>
              <a:gd name="adj" fmla="val 0"/>
            </a:avLst>
          </a:prstGeom>
          <a:solidFill>
            <a:srgbClr val="081037"/>
          </a:solidFill>
          <a:ln>
            <a:solidFill>
              <a:srgbClr val="081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5" tIns="27431" rIns="73150" bIns="27431" rtlCol="0" anchor="ctr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1" dirty="0"/>
              <a:t>Posterior-derived error classes and genomic distribution</a:t>
            </a:r>
          </a:p>
        </p:txBody>
      </p:sp>
      <p:sp>
        <p:nvSpPr>
          <p:cNvPr id="173" name="sec-method-title"/>
          <p:cNvSpPr>
            <a:spLocks noGrp="1"/>
          </p:cNvSpPr>
          <p:nvPr/>
        </p:nvSpPr>
        <p:spPr>
          <a:xfrm>
            <a:off x="14060731" y="22244249"/>
            <a:ext cx="5229223" cy="5444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3600" b="1" dirty="0">
                <a:solidFill>
                  <a:srgbClr val="FFFFFF"/>
                </a:solidFill>
                <a:latin typeface="Arial" panose="020B0604020202020204"/>
              </a:rPr>
              <a:t>Conclusion</a:t>
            </a:r>
            <a:endParaRPr lang="zh-CN" altLang="zh-CN" sz="3600" b="1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13999308" y="22962995"/>
            <a:ext cx="7148198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b="1" dirty="0" err="1">
                <a:solidFill>
                  <a:srgbClr val="000000"/>
                </a:solidFill>
                <a:latin typeface="Arial" panose="020B0604020202020204"/>
              </a:rPr>
              <a:t>ResMamba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 v1 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achieved the best quantitative m6A prediction performance (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Pearson = 0.8590, RMSE = 0.0968, R² = 0.7352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), supporting the benefit of combining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local </a:t>
            </a:r>
            <a:r>
              <a:rPr lang="en-US" altLang="zh-CN" b="1" dirty="0" err="1">
                <a:solidFill>
                  <a:srgbClr val="000000"/>
                </a:solidFill>
                <a:latin typeface="Arial" panose="020B0604020202020204"/>
              </a:rPr>
              <a:t>ResNet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 features with long-range </a:t>
            </a:r>
            <a:r>
              <a:rPr lang="en-US" altLang="zh-CN" b="1" dirty="0" err="1">
                <a:solidFill>
                  <a:srgbClr val="000000"/>
                </a:solidFill>
                <a:latin typeface="Arial" panose="020B0604020202020204"/>
              </a:rPr>
              <a:t>BiMamba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 modeling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b="1" dirty="0" err="1">
                <a:solidFill>
                  <a:srgbClr val="000000"/>
                </a:solidFill>
                <a:latin typeface="Arial" panose="020B0604020202020204"/>
              </a:rPr>
              <a:t>ConquerBN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 consistently outperformed IDR, RRA and </a:t>
            </a:r>
            <a:r>
              <a:rPr lang="en-US" altLang="zh-CN" dirty="0" err="1">
                <a:solidFill>
                  <a:srgbClr val="000000"/>
                </a:solidFill>
                <a:latin typeface="Arial" panose="020B0604020202020204"/>
              </a:rPr>
              <a:t>RankProduct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 in both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LOTO (AUROC = 0.787, AUPRC = 0.678) 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and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 LOFO (AUROC = 0.768, AUPRC = 0.664)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, while posterior-defined error classes enabled genomic and meta-transcript characterization of technology-specific errors. </a:t>
            </a:r>
          </a:p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Together, long-context prediction and multi-technology integration provide complementary strategies for more reliable m6A analysis.</a:t>
            </a:r>
          </a:p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/>
              </a:rPr>
              <a:t>Future work: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Validate posterior-defined false positives against independent IVT-derived artifacts.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00"/>
                </a:solidFill>
                <a:latin typeface="Arial" panose="020B0604020202020204"/>
              </a:rPr>
              <a:t>Explore feature-guided calibration for technologies with limited IVT controls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/>
              </a:rPr>
              <a:t>.</a:t>
            </a:r>
            <a:endParaRPr lang="en-US" altLang="zh-CN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8" name="sec-acknow"/>
          <p:cNvSpPr>
            <a:spLocks noGrp="1"/>
          </p:cNvSpPr>
          <p:nvPr/>
        </p:nvSpPr>
        <p:spPr>
          <a:xfrm>
            <a:off x="13889948" y="27635106"/>
            <a:ext cx="7375298" cy="2342313"/>
          </a:xfrm>
          <a:prstGeom prst="rect">
            <a:avLst/>
          </a:prstGeom>
          <a:noFill/>
          <a:ln w="9525">
            <a:solidFill>
              <a:srgbClr val="C4C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80" name="文本框 179"/>
          <p:cNvSpPr txBox="1"/>
          <p:nvPr/>
        </p:nvSpPr>
        <p:spPr>
          <a:xfrm>
            <a:off x="13896367" y="28376981"/>
            <a:ext cx="734877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zh-CN" sz="1400" i="1" dirty="0"/>
              <a:t>Gu A, Dao T. Mamba: Linear-Time Sequence Modeling with Selective State Spaces. arXiv. 2023; arXiv:2312.00752. </a:t>
            </a:r>
          </a:p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zh-CN" altLang="zh-CN" sz="1400" i="1" dirty="0"/>
              <a:t>Luo Z, Zhang J, Fei J, et al. Deep learning modeling m6A deposition reveals the importance of downstream cis-element sequences. Nature Communications. 2022;13:2720. doi:10.1038/s41467-022-30209-7. </a:t>
            </a:r>
            <a:endParaRPr lang="en-US" altLang="zh-CN" sz="1400" i="1" dirty="0"/>
          </a:p>
          <a:p>
            <a:pPr marL="285750" indent="-285750" algn="just">
              <a:buFont typeface="Wingdings" panose="05000000000000000000" pitchFamily="2" charset="2"/>
              <a:buChar char="n"/>
            </a:pPr>
            <a:r>
              <a:rPr lang="en-US" altLang="zh-CN" sz="1400" i="1" dirty="0"/>
              <a:t>Feng Y, Xu Y. AI Model for m6A Modification Sites. GitHub repository. 2026. </a:t>
            </a:r>
            <a:r>
              <a:rPr lang="en-US" altLang="zh-CN" sz="1400" i="1" dirty="0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https://github.com/YueweiXu-XJTLU/ai-model-for-m6a-modification-sites</a:t>
            </a:r>
            <a:r>
              <a:rPr lang="en-US" altLang="zh-CN" sz="1400" i="1" dirty="0"/>
              <a:t>.</a:t>
            </a:r>
            <a:endParaRPr lang="zh-CN" altLang="en-US" sz="1400" i="1" dirty="0"/>
          </a:p>
        </p:txBody>
      </p:sp>
      <p:sp>
        <p:nvSpPr>
          <p:cNvPr id="71" name="文本框 70"/>
          <p:cNvSpPr txBox="1"/>
          <p:nvPr/>
        </p:nvSpPr>
        <p:spPr>
          <a:xfrm>
            <a:off x="14065447" y="7359547"/>
            <a:ext cx="7329491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1800" b="1" dirty="0" err="1">
                <a:solidFill>
                  <a:srgbClr val="000000"/>
                </a:solidFill>
                <a:latin typeface="Arial" panose="020B0604020202020204"/>
              </a:rPr>
              <a:t>ConquerBN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</a:rPr>
              <a:t> achieved the highest macro-average 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/>
              </a:rPr>
              <a:t>AUROC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</a:rPr>
              <a:t> and 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/>
              </a:rPr>
              <a:t>AUPRC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</a:rPr>
              <a:t> in LOTO and LOFO.</a:t>
            </a:r>
            <a:endParaRPr lang="zh-CN" altLang="en-US" dirty="0"/>
          </a:p>
        </p:txBody>
      </p:sp>
      <p:sp>
        <p:nvSpPr>
          <p:cNvPr id="75" name="sec-method-head"/>
          <p:cNvSpPr>
            <a:spLocks noGrp="1"/>
          </p:cNvSpPr>
          <p:nvPr/>
        </p:nvSpPr>
        <p:spPr>
          <a:xfrm>
            <a:off x="7055886" y="24806260"/>
            <a:ext cx="6695485" cy="78287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>
              <a:solidFill>
                <a:sysClr val="windowText" lastClr="000000"/>
              </a:solidFill>
            </a:endParaRPr>
          </a:p>
        </p:txBody>
      </p:sp>
      <p:sp>
        <p:nvSpPr>
          <p:cNvPr id="76" name="sec-method-title"/>
          <p:cNvSpPr>
            <a:spLocks noGrp="1"/>
          </p:cNvSpPr>
          <p:nvPr/>
        </p:nvSpPr>
        <p:spPr>
          <a:xfrm>
            <a:off x="7198707" y="24980591"/>
            <a:ext cx="6862024" cy="4249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3600" b="1" dirty="0">
                <a:solidFill>
                  <a:srgbClr val="FFFFFF"/>
                </a:solidFill>
                <a:latin typeface="Arial" panose="020B0604020202020204"/>
              </a:rPr>
              <a:t>Results: Benchmark</a:t>
            </a:r>
            <a:endParaRPr lang="zh-CN" altLang="zh-CN" sz="3600" b="1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8" name="sec-conclu"/>
          <p:cNvSpPr>
            <a:spLocks noGrp="1"/>
          </p:cNvSpPr>
          <p:nvPr/>
        </p:nvSpPr>
        <p:spPr>
          <a:xfrm>
            <a:off x="7060281" y="24794015"/>
            <a:ext cx="6695486" cy="5183403"/>
          </a:xfrm>
          <a:prstGeom prst="rect">
            <a:avLst/>
          </a:prstGeom>
          <a:noFill/>
          <a:ln w="9525">
            <a:solidFill>
              <a:srgbClr val="C4C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b="1"/>
          </a:p>
        </p:txBody>
      </p:sp>
      <p:sp>
        <p:nvSpPr>
          <p:cNvPr id="3" name="Rounded Rectangle 114"/>
          <p:cNvSpPr/>
          <p:nvPr/>
        </p:nvSpPr>
        <p:spPr>
          <a:xfrm>
            <a:off x="7288937" y="25763569"/>
            <a:ext cx="6372355" cy="457294"/>
          </a:xfrm>
          <a:prstGeom prst="roundRect">
            <a:avLst>
              <a:gd name="adj" fmla="val 0"/>
            </a:avLst>
          </a:prstGeom>
          <a:solidFill>
            <a:srgbClr val="081037"/>
          </a:solidFill>
          <a:ln>
            <a:solidFill>
              <a:srgbClr val="081037"/>
            </a:solidFill>
            <a:beve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5" bIns="36575" rtlCol="0" anchor="ctr"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pt-PT" altLang="zh-CN" sz="2200" b="1" dirty="0">
                <a:solidFill>
                  <a:srgbClr val="FFFFFF"/>
                </a:solidFill>
                <a:ea typeface="Arial" panose="020B0604020202020204"/>
                <a:cs typeface="Arial" panose="020B0604020202020204"/>
              </a:rPr>
              <a:t>Benchmark m6A integration</a:t>
            </a:r>
          </a:p>
        </p:txBody>
      </p:sp>
      <p:sp>
        <p:nvSpPr>
          <p:cNvPr id="5" name="Text Placeholder 12"/>
          <p:cNvSpPr txBox="1"/>
          <p:nvPr/>
        </p:nvSpPr>
        <p:spPr>
          <a:xfrm>
            <a:off x="7144380" y="26411481"/>
            <a:ext cx="6541210" cy="3708314"/>
          </a:xfrm>
          <a:prstGeom prst="rect">
            <a:avLst/>
          </a:prstGeom>
        </p:spPr>
        <p:txBody>
          <a:bodyPr vert="horz" wrap="square" lIns="91437" tIns="45718" rIns="91437" bIns="45718" anchor="t">
            <a:normAutofit/>
          </a:bodyPr>
          <a:lstStyle>
            <a:lvl1pPr marL="0" indent="0" algn="l" defTabSz="457200">
              <a:spcBef>
                <a:spcPct val="20000"/>
              </a:spcBef>
              <a:buFont typeface="Arial" panose="020B0604020202020204"/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457200">
              <a:spcBef>
                <a:spcPct val="20000"/>
              </a:spcBef>
              <a:buFont typeface="Arial" panose="020B0604020202020204"/>
              <a:buNone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457200">
              <a:spcBef>
                <a:spcPct val="20000"/>
              </a:spcBef>
              <a:buFont typeface="Arial" panose="020B0604020202020204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457200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457200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457200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457200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457200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457200">
              <a:spcBef>
                <a:spcPct val="20000"/>
              </a:spcBef>
              <a:buFont typeface="Arial" panose="020B0604020202020204"/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4400" indent="-284400" algn="just">
              <a:spcBef>
                <a:spcPts val="0"/>
              </a:spcBef>
              <a:buFont typeface="Wingdings" panose="05000000000000000000" pitchFamily="2" charset="2"/>
              <a:buChar char="n"/>
              <a:defRPr sz="1950">
                <a:solidFill>
                  <a:srgbClr val="2D374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00" b="1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2,788,705 candidate sites 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across 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14 m6A technologies 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and 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5 technology families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284400" indent="-284400" algn="just">
              <a:spcBef>
                <a:spcPts val="0"/>
              </a:spcBef>
              <a:buFont typeface="Wingdings" panose="05000000000000000000" pitchFamily="2" charset="2"/>
              <a:buChar char="n"/>
              <a:defRPr sz="1950">
                <a:solidFill>
                  <a:srgbClr val="2D374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MAP calls require 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technology-specific Total &gt; 10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284400" indent="-284400" algn="just">
              <a:spcBef>
                <a:spcPts val="0"/>
              </a:spcBef>
              <a:buFont typeface="Wingdings" panose="05000000000000000000" pitchFamily="2" charset="2"/>
              <a:buChar char="n"/>
              <a:defRPr sz="1950">
                <a:solidFill>
                  <a:srgbClr val="2D374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zh-CN" sz="1950" dirty="0">
                <a:solidFill>
                  <a:srgbClr val="2D3748"/>
                </a:solidFill>
                <a:latin typeface="Arial" panose="020B0604020202020204"/>
              </a:rPr>
              <a:t>Viterbi decoding provides an exploratory view of the most probable error path</a:t>
            </a:r>
            <a:r>
              <a:rPr lang="en-US" altLang="zh-CN" sz="1950" dirty="0">
                <a:solidFill>
                  <a:srgbClr val="2D3748"/>
                </a:solidFill>
                <a:latin typeface="Arial" panose="020B0604020202020204"/>
              </a:rPr>
              <a:t>.</a:t>
            </a:r>
            <a:endParaRPr lang="en-US" altLang="zh-CN" sz="1800" dirty="0">
              <a:solidFill>
                <a:srgbClr val="000000"/>
              </a:solidFill>
              <a:latin typeface="Arial" panose="020B0604020202020204"/>
              <a:ea typeface="+mn-ea"/>
              <a:cs typeface="+mn-cs"/>
            </a:endParaRPr>
          </a:p>
          <a:p>
            <a:pPr marL="284400" indent="-284400" algn="just">
              <a:spcBef>
                <a:spcPts val="0"/>
              </a:spcBef>
              <a:buFont typeface="Wingdings" panose="05000000000000000000" pitchFamily="2" charset="2"/>
              <a:buChar char="n"/>
              <a:defRPr sz="1950">
                <a:solidFill>
                  <a:srgbClr val="2D374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Leave-one-technology-out (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LOTO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) and leave-one-family-out (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LOFO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) compare </a:t>
            </a:r>
            <a:r>
              <a:rPr lang="en-US" altLang="zh-CN" sz="1800" dirty="0" err="1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ConquerBN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 with </a:t>
            </a:r>
            <a:r>
              <a:rPr lang="en-US" altLang="zh-CN" sz="1800" dirty="0" err="1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RankProduct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, RRA and continuous IDR on identical evaluation sites.</a:t>
            </a:r>
          </a:p>
          <a:p>
            <a:pPr marL="284400" indent="-284400" algn="just">
              <a:spcBef>
                <a:spcPts val="0"/>
              </a:spcBef>
              <a:buFont typeface="Wingdings" panose="05000000000000000000" pitchFamily="2" charset="2"/>
              <a:buChar char="n"/>
              <a:defRPr sz="1950">
                <a:solidFill>
                  <a:srgbClr val="2D374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Direct joint posteriors define TP, FP, FN and TN; each class is called at global 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FDR &lt; 0.05.</a:t>
            </a:r>
          </a:p>
          <a:p>
            <a:pPr marL="284400" indent="-284400" algn="just">
              <a:spcBef>
                <a:spcPts val="0"/>
              </a:spcBef>
              <a:buFont typeface="Wingdings" panose="05000000000000000000" pitchFamily="2" charset="2"/>
              <a:buChar char="n"/>
              <a:defRPr sz="1950">
                <a:solidFill>
                  <a:srgbClr val="2D374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rPr>
              <a:t>185 genomic features are screened by chromosome-blocked five-fold random forests.</a:t>
            </a:r>
          </a:p>
        </p:txBody>
      </p:sp>
      <p:sp>
        <p:nvSpPr>
          <p:cNvPr id="7" name="Rounded Rectangle 112"/>
          <p:cNvSpPr/>
          <p:nvPr/>
        </p:nvSpPr>
        <p:spPr>
          <a:xfrm>
            <a:off x="14193853" y="8105467"/>
            <a:ext cx="6889466" cy="426441"/>
          </a:xfrm>
          <a:prstGeom prst="roundRect">
            <a:avLst>
              <a:gd name="adj" fmla="val 0"/>
            </a:avLst>
          </a:prstGeom>
          <a:solidFill>
            <a:srgbClr val="081037"/>
          </a:solidFill>
          <a:ln>
            <a:solidFill>
              <a:srgbClr val="081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5" tIns="27431" rIns="73150" bIns="27431" rtlCol="0" anchor="ctr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sz="2000" b="1" dirty="0"/>
              <a:t>Viterbi-based exploratory error-pathway analysis</a:t>
            </a:r>
            <a:endParaRPr lang="zh-CN" altLang="en-US" sz="2000" b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4636" y="8727973"/>
            <a:ext cx="6647366" cy="487944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3993721" y="13929428"/>
            <a:ext cx="7142739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n"/>
            </a:pPr>
            <a:r>
              <a:rPr lang="en-US" altLang="zh-CN" dirty="0"/>
              <a:t>Most errors were technology-level, with occasional strategy-level shifts in enzyme-cleavage methods</a:t>
            </a:r>
            <a:r>
              <a:rPr lang="zh-CN" altLang="zh-CN" dirty="0"/>
              <a:t>.</a:t>
            </a:r>
            <a:endParaRPr lang="zh-CN" altLang="en-US" dirty="0"/>
          </a:p>
        </p:txBody>
      </p:sp>
      <p:sp>
        <p:nvSpPr>
          <p:cNvPr id="14" name="fig-3-caption"/>
          <p:cNvSpPr>
            <a:spLocks noGrp="1"/>
          </p:cNvSpPr>
          <p:nvPr/>
        </p:nvSpPr>
        <p:spPr>
          <a:xfrm>
            <a:off x="14065130" y="13689089"/>
            <a:ext cx="6767623" cy="56202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1600" i="1" dirty="0"/>
              <a:t>Fig.</a:t>
            </a:r>
            <a:r>
              <a:rPr lang="zh-CN" altLang="zh-CN" sz="1600" i="1" dirty="0"/>
              <a:t> </a:t>
            </a:r>
            <a:r>
              <a:rPr lang="en-US" altLang="zh-CN" sz="1600" i="1" dirty="0"/>
              <a:t>5</a:t>
            </a:r>
            <a:r>
              <a:rPr lang="zh-CN" altLang="zh-CN" sz="1600" i="1" dirty="0"/>
              <a:t>. Viterbi route composition for MeRIP-seq. 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432882" y="27014983"/>
            <a:ext cx="6433928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i="1" dirty="0">
                <a:solidFill>
                  <a:srgbClr val="000000"/>
                </a:solidFill>
                <a:latin typeface="Arial" panose="020B0604020202020204"/>
              </a:rPr>
              <a:t>Fig. 1. Architectures for four m6A prediction models, including the shared iM6A </a:t>
            </a:r>
            <a:r>
              <a:rPr lang="en-US" altLang="zh-CN" sz="1600" b="0" i="1" dirty="0" err="1">
                <a:solidFill>
                  <a:srgbClr val="000000"/>
                </a:solidFill>
                <a:latin typeface="Arial" panose="020B0604020202020204"/>
              </a:rPr>
              <a:t>ResNet</a:t>
            </a:r>
            <a:r>
              <a:rPr lang="en-US" altLang="zh-CN" sz="1600" b="0" i="1" dirty="0">
                <a:solidFill>
                  <a:srgbClr val="000000"/>
                </a:solidFill>
                <a:latin typeface="Arial" panose="020B0604020202020204"/>
              </a:rPr>
              <a:t> backbone with v4/v5-specific heads and the single- and double-U-Net </a:t>
            </a:r>
            <a:r>
              <a:rPr lang="en-US" altLang="zh-CN" sz="1600" b="0" i="1" dirty="0" err="1">
                <a:solidFill>
                  <a:srgbClr val="000000"/>
                </a:solidFill>
                <a:latin typeface="Arial" panose="020B0604020202020204"/>
              </a:rPr>
              <a:t>ResMamba</a:t>
            </a:r>
            <a:r>
              <a:rPr lang="en-US" altLang="zh-CN" sz="1600" b="0" i="1" dirty="0">
                <a:solidFill>
                  <a:srgbClr val="000000"/>
                </a:solidFill>
                <a:latin typeface="Arial" panose="020B0604020202020204"/>
              </a:rPr>
              <a:t> variants.</a:t>
            </a:r>
          </a:p>
        </p:txBody>
      </p:sp>
      <p:sp>
        <p:nvSpPr>
          <p:cNvPr id="73" name="poster-authors">
            <a:extLst>
              <a:ext uri="{FF2B5EF4-FFF2-40B4-BE49-F238E27FC236}">
                <a16:creationId xmlns:a16="http://schemas.microsoft.com/office/drawing/2014/main" id="{46F72B7E-E470-420E-86DE-20A87394498B}"/>
              </a:ext>
            </a:extLst>
          </p:cNvPr>
          <p:cNvSpPr>
            <a:spLocks noGrp="1"/>
          </p:cNvSpPr>
          <p:nvPr/>
        </p:nvSpPr>
        <p:spPr>
          <a:xfrm>
            <a:off x="2246039" y="2330784"/>
            <a:ext cx="16894723" cy="6807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400" i="1" dirty="0">
                <a:solidFill>
                  <a:schemeClr val="bg1"/>
                </a:solidFill>
              </a:rPr>
              <a:t>SURF Members: </a:t>
            </a:r>
            <a:r>
              <a:rPr lang="en-US" altLang="zh-CN" sz="2400" i="1" dirty="0" err="1">
                <a:solidFill>
                  <a:schemeClr val="bg1"/>
                </a:solidFill>
              </a:rPr>
              <a:t>Xiyao</a:t>
            </a:r>
            <a:r>
              <a:rPr lang="en-US" altLang="zh-CN" sz="2400" i="1" dirty="0">
                <a:solidFill>
                  <a:schemeClr val="bg1"/>
                </a:solidFill>
              </a:rPr>
              <a:t> Chen, Yinuo Feng, Yilin Wu,</a:t>
            </a:r>
            <a:r>
              <a:rPr lang="en-US" altLang="zh-CN" sz="2400" b="1" i="1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en-US" altLang="zh-CN" sz="2400" i="1" dirty="0">
                <a:solidFill>
                  <a:schemeClr val="bg1"/>
                </a:solidFill>
              </a:rPr>
              <a:t>Yuewei Xu </a:t>
            </a:r>
            <a:r>
              <a:rPr sz="2400" b="1" i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|</a:t>
            </a:r>
            <a:r>
              <a:rPr lang="en-US" sz="2400" b="1" i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zh-CN" altLang="zh-CN" sz="2400" i="1" dirty="0">
                <a:solidFill>
                  <a:schemeClr val="bg1"/>
                </a:solidFill>
              </a:rPr>
              <a:t>Volunteers</a:t>
            </a:r>
            <a:r>
              <a:rPr lang="en-US" altLang="zh-CN" sz="2400" i="1" dirty="0">
                <a:solidFill>
                  <a:schemeClr val="bg1"/>
                </a:solidFill>
              </a:rPr>
              <a:t>: </a:t>
            </a:r>
            <a:r>
              <a:rPr lang="en-US" altLang="zh-CN" sz="2400" i="1" dirty="0" err="1">
                <a:solidFill>
                  <a:schemeClr val="bg1"/>
                </a:solidFill>
              </a:rPr>
              <a:t>Shengjie</a:t>
            </a:r>
            <a:r>
              <a:rPr lang="en-US" altLang="zh-CN" sz="2400" i="1" dirty="0">
                <a:solidFill>
                  <a:schemeClr val="bg1"/>
                </a:solidFill>
              </a:rPr>
              <a:t> Sun, </a:t>
            </a:r>
            <a:r>
              <a:rPr lang="en-US" altLang="zh-CN" sz="2400" i="1" dirty="0" err="1">
                <a:solidFill>
                  <a:schemeClr val="bg1"/>
                </a:solidFill>
              </a:rPr>
              <a:t>Zhike</a:t>
            </a:r>
            <a:r>
              <a:rPr lang="en-US" altLang="zh-CN" sz="2400" i="1" dirty="0">
                <a:solidFill>
                  <a:schemeClr val="bg1"/>
                </a:solidFill>
              </a:rPr>
              <a:t> Fu </a:t>
            </a:r>
          </a:p>
          <a:p>
            <a:pPr>
              <a:defRPr sz="22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22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4" name="poster-affiliations">
            <a:extLst>
              <a:ext uri="{FF2B5EF4-FFF2-40B4-BE49-F238E27FC236}">
                <a16:creationId xmlns:a16="http://schemas.microsoft.com/office/drawing/2014/main" id="{98CC63F9-4081-4934-B406-674CF7157EA3}"/>
              </a:ext>
            </a:extLst>
          </p:cNvPr>
          <p:cNvSpPr>
            <a:spLocks noGrp="1"/>
          </p:cNvSpPr>
          <p:nvPr/>
        </p:nvSpPr>
        <p:spPr>
          <a:xfrm>
            <a:off x="3036812" y="1599569"/>
            <a:ext cx="15313175" cy="87751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400" b="1" i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SURF Code: </a:t>
            </a:r>
            <a:r>
              <a:rPr lang="en-US" sz="2400" b="1" i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SURF-2026-0485</a:t>
            </a:r>
            <a:r>
              <a:rPr lang="pt-PT" altLang="zh-CN" sz="2400" b="1" i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zh-CN" sz="2400" b="1" i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| </a:t>
            </a:r>
            <a:r>
              <a:rPr lang="pt-PT" altLang="zh-CN" sz="2400" b="1" i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Supervisor: Dr. Zhen Wei </a:t>
            </a:r>
            <a:endParaRPr sz="2400" b="1" i="1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1" name="图片 80" descr="4852e5f87293300c2452bc458f201033">
            <a:extLst>
              <a:ext uri="{FF2B5EF4-FFF2-40B4-BE49-F238E27FC236}">
                <a16:creationId xmlns:a16="http://schemas.microsoft.com/office/drawing/2014/main" id="{0B4792FC-083F-41F0-B9A4-F3DD5063F9C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552" r="61400"/>
          <a:stretch>
            <a:fillRect/>
          </a:stretch>
        </p:blipFill>
        <p:spPr>
          <a:xfrm>
            <a:off x="267937" y="-151418"/>
            <a:ext cx="2700000" cy="1982804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B9882F69-BE07-4138-A037-FEF2CED9CD7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39705" y="590240"/>
            <a:ext cx="2160000" cy="2160000"/>
          </a:xfrm>
          <a:prstGeom prst="rect">
            <a:avLst/>
          </a:prstGeom>
        </p:spPr>
      </p:pic>
      <p:pic>
        <p:nvPicPr>
          <p:cNvPr id="165" name="图片 164"/>
          <p:cNvPicPr>
            <a:picLocks noChangeAspect="1"/>
          </p:cNvPicPr>
          <p:nvPr/>
        </p:nvPicPr>
        <p:blipFill>
          <a:blip r:embed="rId15"/>
          <a:srcRect t="3892"/>
          <a:stretch>
            <a:fillRect/>
          </a:stretch>
        </p:blipFill>
        <p:spPr>
          <a:xfrm>
            <a:off x="17448942" y="18637008"/>
            <a:ext cx="3529045" cy="2487254"/>
          </a:xfrm>
          <a:prstGeom prst="rect">
            <a:avLst/>
          </a:prstGeom>
        </p:spPr>
      </p:pic>
      <p:sp>
        <p:nvSpPr>
          <p:cNvPr id="171" name="fig-5-caption"/>
          <p:cNvSpPr>
            <a:spLocks noGrp="1"/>
          </p:cNvSpPr>
          <p:nvPr/>
        </p:nvSpPr>
        <p:spPr>
          <a:xfrm>
            <a:off x="14034852" y="20989968"/>
            <a:ext cx="7123263" cy="11844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  <a:defRPr sz="1350">
                <a:solidFill>
                  <a:srgbClr val="5A65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i="1" dirty="0">
                <a:solidFill>
                  <a:srgbClr val="000000"/>
                </a:solidFill>
                <a:latin typeface="Arial" panose="020B0604020202020204"/>
              </a:rPr>
              <a:t>Fig. 6. Posterior-derived error classes and genomic distribution. (a) Direct four-class labels. (b) Chromosome-blocked RF performance. (c) Representative TP–FP profiles for </a:t>
            </a:r>
            <a:r>
              <a:rPr lang="en-US" altLang="zh-CN" sz="1600" i="1" dirty="0" err="1">
                <a:solidFill>
                  <a:srgbClr val="000000"/>
                </a:solidFill>
                <a:latin typeface="Arial" panose="020B0604020202020204"/>
              </a:rPr>
              <a:t>eTAM</a:t>
            </a:r>
            <a:r>
              <a:rPr lang="en-US" altLang="zh-CN" sz="1600" i="1" dirty="0">
                <a:solidFill>
                  <a:srgbClr val="000000"/>
                </a:solidFill>
                <a:latin typeface="Arial" panose="020B0604020202020204"/>
              </a:rPr>
              <a:t>-seq and </a:t>
            </a:r>
            <a:r>
              <a:rPr lang="en-US" altLang="zh-CN" sz="1600" i="1" dirty="0" err="1">
                <a:solidFill>
                  <a:srgbClr val="000000"/>
                </a:solidFill>
                <a:latin typeface="Arial" panose="020B0604020202020204"/>
              </a:rPr>
              <a:t>scDART</a:t>
            </a:r>
            <a:r>
              <a:rPr lang="en-US" altLang="zh-CN" sz="1600" i="1" dirty="0">
                <a:solidFill>
                  <a:srgbClr val="000000"/>
                </a:solidFill>
                <a:latin typeface="Arial" panose="020B0604020202020204"/>
              </a:rPr>
              <a:t>-seq shown side by side.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5A5F66"/>
      </a:dk2>
      <a:lt2>
        <a:srgbClr val="F4F5F7"/>
      </a:lt2>
      <a:accent1>
        <a:srgbClr val="1B365D"/>
      </a:accent1>
      <a:accent2>
        <a:srgbClr val="8A7B5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B365D"/>
      </a:hlink>
      <a:folHlink>
        <a:srgbClr val="1B36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5A5F66"/>
      </a:dk2>
      <a:lt2>
        <a:srgbClr val="F4F5F7"/>
      </a:lt2>
      <a:accent1>
        <a:srgbClr val="1B365D"/>
      </a:accent1>
      <a:accent2>
        <a:srgbClr val="8A7B5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B365D"/>
      </a:hlink>
      <a:folHlink>
        <a:srgbClr val="1B36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1095</Words>
  <Application>Microsoft Office PowerPoint</Application>
  <PresentationFormat>自定义</PresentationFormat>
  <Paragraphs>95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xy c</dc:creator>
  <cp:lastModifiedBy>yw x</cp:lastModifiedBy>
  <cp:revision>94</cp:revision>
  <dcterms:created xsi:type="dcterms:W3CDTF">2026-08-25T06:57:00Z</dcterms:created>
  <dcterms:modified xsi:type="dcterms:W3CDTF">2026-08-27T10:53:38Z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98800F3EC77F4A5E9AF3AAFCF33D5EEE_13</vt:lpwstr>
  </property>
</Properties>
</file>